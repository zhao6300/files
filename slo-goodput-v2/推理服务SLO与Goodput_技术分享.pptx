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开场：今天不讲具体算子优化，先把「我们到底在优化什么」讲清楚。这套语言通了，后面所有工作的价值就容易说明白。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先给结论。如果只听三句话：体验只有 TTFT / TPOT 两件事；看达标率不看平均；最终目标是 Goodput。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路线图。前四部分建立共识，后两部分说明我们在做什么。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第一部分：为什么要引入 SLO。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关键是换视角：机器强不强 → 用户满不满意。顺带对齐三个术语：SLA 对外承诺、SLO 内部目标、SLI 实测值。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餐厅比喻，帮非技术同事建立直觉。重点：等第一道菜 和 后面上菜节奏，是两个不同的问题，解法也不同。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第二部分：把核心指标讲清楚。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全篇最重要的机制页：一次请求有两个性质完全不同的阶段。Prefill 吃算力，Decode 吃显存带宽。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看这张图：Prefill（绿色）两种负载下一样长，涨的是排队（蓝色）。所以只优化 Prefill 内核救不了 TTFT。图为示意，可换成我们自己的实测构成。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用「每秒多少字」给非技术同事一个标尺：50ms 流畅、100ms 可接受、300ms 明显卡顿。底部时间轴说明 TTFT 与 TPOT 的位置差别。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统计口径：右侧红线之外的就是违约请求。平均值达标不代表没人受影响，所以要看 p90/p95，并按上下文长度分桶。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这张图是全篇的总纲：吞吐（蓝）单调上升，Goodput（绿）先升后降。粉色区域里吞吐还在涨，但达标率已经在掉。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第三部分：TTFT 由什么决定。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五类因素快速过一遍，落脚在最后一句：TTFT 差通常不是算得慢，而是等得久。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队头阻塞：上下两行对比即可，不必展开。可以补充：换成按剩余预算排序，多数请求的 TTFT 明显下降。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 配比与 TTFT 是非单调关系：两端都高，中间有最优区间。左边解释机理：到达速率超过 Prefill 产能，队列就持续堆积。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反直觉页：NVMe 命中虽然省掉了 Prefill 计算（绿色很短），但搬运（橙色）把 TTFT 推过了红线。这页和我们的 KV 卸载工作直接相关。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第四部分：TPOT 由什么决定。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上排是一次 Decode 步的组成，下排是三个最敏感的因素。注意说明 MoE / PCIe 是我们的工程观测。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上图：Prefill 插进来，出字就出现空档。下图：干扰强度与 TPOT 近似线性，实验中 R²=0.99，说明它是可预测、可控的。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两条曲线交叉：Chunk 变大 TTFT 降、TPOT 升。它不是性能参数，而是把延迟预算在两个指标之间挪动。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矩阵看结论反转：TPOT 紧时分离胜出（98%），TTFT 紧时聚合胜出（97%），两者都紧时都明显下降。所以先定哪个指标不能违约。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第五部分：我们手上的控制手段。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总框架图，可作为汇报主图。五层是同一份延迟预算的五个分配入口。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架构层：三种形态各自换来什么、代价是什么，一句话一个。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调度层：四种策略的演进路线，重点是最后一句——调度是提升达标率最便宜的一层。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延迟预算把全篇串起来：同样一次 300ms 的搬运，对 A 无所谓、对 B 就是违约。右侧是预算的三个消耗者。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执行、显存、通信三层合并讲。下方链条示范：任何底层优化都要能说清它省下了哪个指标的预算。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最后一部分：收敛到系统级目标。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全景图：从负载一路到 Goodput，右侧是五层旋钮。建议这页多停留。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把我们已有的工作逐项落到框架里，每项都写明要同时盯住的风险。最后给出建议的汇报口径。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收尾：目标是在给定 SLO 下承载更多请求。三个「统一」是希望团队之后共同遵守的工作方式。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73568" y="0"/>
            <a:ext cx="4218127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73568" y="0"/>
            <a:ext cx="18288" cy="685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技术分享  ·  推理系统性能优化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103120"/>
            <a:ext cx="640080" cy="5486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32304"/>
            <a:ext cx="7040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大模型推理服务的
SLO 与 Goodput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224528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我们衡量什么，为什么会违约，能动哪些旋钮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956048"/>
            <a:ext cx="2084831" cy="841248"/>
          </a:xfrm>
          <a:prstGeom prst="roundRect">
            <a:avLst>
              <a:gd name="adj" fmla="val 14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TTFT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首字延迟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5808" y="4956048"/>
            <a:ext cx="2084831" cy="841248"/>
          </a:xfrm>
          <a:prstGeom prst="roundRect">
            <a:avLst>
              <a:gd name="adj" fmla="val 14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TPOT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每字延迟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58384" y="4956048"/>
            <a:ext cx="2084831" cy="841248"/>
          </a:xfrm>
          <a:prstGeom prst="roundRect">
            <a:avLst>
              <a:gd name="adj" fmla="val 14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Goodput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有效吞吐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63056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汇报人：＿＿＿      2026 / 09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37360"/>
            <a:ext cx="1664208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TTFT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第一个字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22408" y="1737360"/>
            <a:ext cx="1664208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TPOT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后续每个字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07424" y="2523744"/>
            <a:ext cx="384048" cy="493776"/>
          </a:xfrm>
          <a:prstGeom prst="line">
            <a:avLst/>
          </a:prstGeom>
          <a:ln w="19050">
            <a:solidFill>
              <a:srgbClr val="AEB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0570464" y="2523744"/>
            <a:ext cx="384048" cy="493776"/>
          </a:xfrm>
          <a:prstGeom prst="line">
            <a:avLst/>
          </a:prstGeom>
          <a:ln w="19050">
            <a:solidFill>
              <a:srgbClr val="AEB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75320" y="3072384"/>
            <a:ext cx="3511296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SLO 达标率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多少请求满足要求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30968" y="3858768"/>
            <a:ext cx="0" cy="438912"/>
          </a:xfrm>
          <a:prstGeom prst="line">
            <a:avLst/>
          </a:prstGeom>
          <a:ln w="19050">
            <a:solidFill>
              <a:srgbClr val="AEB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75320" y="4352544"/>
            <a:ext cx="3511296" cy="96012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Goodput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DCE6FD"/>
                </a:solidFill>
                <a:latin typeface="Segoe UI"/>
                <a:ea typeface="Microsoft YaHei"/>
                <a:cs typeface="Microsoft YaHei"/>
              </a:rPr>
              <a:t>达标前提下的产能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5468112"/>
            <a:ext cx="35112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最终目标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写在最前面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只记三句话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20240"/>
            <a:ext cx="343601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920240"/>
            <a:ext cx="343601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231136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8EFFD"/>
                </a:solidFill>
                <a:latin typeface="Segoe U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852928"/>
            <a:ext cx="277764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体验只有两件事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42416" y="3584448"/>
            <a:ext cx="2777642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42416" y="3803903"/>
            <a:ext cx="54864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749039"/>
            <a:ext cx="26130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041648"/>
            <a:ext cx="26130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第一个字等多久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416" y="4407407"/>
            <a:ext cx="54864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4352544"/>
            <a:ext cx="26130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TPOT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645152"/>
            <a:ext cx="26130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后面出字快不快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7842" y="1920240"/>
            <a:ext cx="343601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7842" y="1920240"/>
            <a:ext cx="3436010" cy="54864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7026" y="2231136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0F5F2"/>
                </a:solidFill>
                <a:latin typeface="Segoe U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7026" y="2852928"/>
            <a:ext cx="277764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看达标率，不看平均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07026" y="3584448"/>
            <a:ext cx="2777642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707026" y="3803903"/>
            <a:ext cx="54864" cy="38404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1618" y="3749039"/>
            <a:ext cx="26130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p90 / p95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1618" y="4041648"/>
            <a:ext cx="26130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长尾才是投诉源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7026" y="4407407"/>
            <a:ext cx="54864" cy="38404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1618" y="4352544"/>
            <a:ext cx="26130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分场景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1618" y="4645152"/>
            <a:ext cx="26130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别饿死长请求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2452" y="1920240"/>
            <a:ext cx="343601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2452" y="1920240"/>
            <a:ext cx="3436010" cy="54864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1636" y="2231136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DF4E3"/>
                </a:solidFill>
                <a:latin typeface="Segoe U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1636" y="2852928"/>
            <a:ext cx="277764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目标是 Goodput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71636" y="3584448"/>
            <a:ext cx="2777643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371636" y="3803903"/>
            <a:ext cx="54864" cy="384048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6228" y="3749039"/>
            <a:ext cx="26130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达标产能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6228" y="4041648"/>
            <a:ext cx="26130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能接多少请求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1636" y="4407407"/>
            <a:ext cx="54864" cy="384048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36228" y="4352544"/>
            <a:ext cx="26130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吞吐拉满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36228" y="4645152"/>
            <a:ext cx="26130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反而可能下降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5504688"/>
            <a:ext cx="10765231" cy="65836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" y="5577840"/>
            <a:ext cx="45720" cy="512063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" y="5504688"/>
            <a:ext cx="1030803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一句话  ｜  </a:t>
            </a: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所有底层优化，最终都汇聚成 Goodput 这一个数字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内容框架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六个部分，一条主线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2048256"/>
            <a:ext cx="343601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048256"/>
            <a:ext cx="54864" cy="1463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2359152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32304"/>
            <a:ext cx="224729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为什么需要 SLO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7842" y="2048256"/>
            <a:ext cx="343601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7842" y="2048256"/>
            <a:ext cx="54864" cy="1463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88738" y="2359152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0530" y="2432304"/>
            <a:ext cx="224729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核心指标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2452" y="2048256"/>
            <a:ext cx="343601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2452" y="2048256"/>
            <a:ext cx="54864" cy="14630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3348" y="2359152"/>
            <a:ext cx="475488" cy="475488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5140" y="2432304"/>
            <a:ext cx="224729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TTFT 由什么决定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840480"/>
            <a:ext cx="343601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840480"/>
            <a:ext cx="54864" cy="14630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8" y="4151376"/>
            <a:ext cx="475488" cy="475488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224528"/>
            <a:ext cx="224729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TPOT 由什么决定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7842" y="3840480"/>
            <a:ext cx="343601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7842" y="3840480"/>
            <a:ext cx="54864" cy="14630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88738" y="4151376"/>
            <a:ext cx="475488" cy="475488"/>
          </a:xfrm>
          <a:prstGeom prst="ellipse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0530" y="4224528"/>
            <a:ext cx="224729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五层控制手段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2452" y="3840480"/>
            <a:ext cx="343601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2452" y="3840480"/>
            <a:ext cx="54864" cy="14630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53348" y="4151376"/>
            <a:ext cx="475488" cy="475488"/>
          </a:xfrm>
          <a:prstGeom prst="ellipse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5140" y="4224528"/>
            <a:ext cx="224729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系统级优化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724144"/>
            <a:ext cx="107652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指标 → 成因 → 手段 → 权衡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3258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E8EFFD"/>
                </a:solidFill>
                <a:latin typeface="Segoe U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10128"/>
            <a:ext cx="45720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529584"/>
            <a:ext cx="89611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为什么需要 SLO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352544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推理系统到底在优化什么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换个视角看指标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20240"/>
            <a:ext cx="3611880" cy="2651760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157984"/>
            <a:ext cx="29900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机器视角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" y="2761488"/>
            <a:ext cx="128016" cy="128016"/>
          </a:xfrm>
          <a:prstGeom prst="rect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吞吐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2416" y="3218688"/>
            <a:ext cx="128016" cy="128016"/>
          </a:xfrm>
          <a:prstGeom prst="rect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108960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延迟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" y="3675887"/>
            <a:ext cx="128016" cy="128016"/>
          </a:xfrm>
          <a:prstGeom prst="rect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566160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GPU 利用率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416" y="4133088"/>
            <a:ext cx="128016" cy="128016"/>
          </a:xfrm>
          <a:prstGeom prst="rect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023360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Tokens / 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26280" y="3246120"/>
            <a:ext cx="804672" cy="0"/>
          </a:xfrm>
          <a:prstGeom prst="line">
            <a:avLst/>
          </a:prstGeom>
          <a:ln w="31750">
            <a:solidFill>
              <a:srgbClr val="2563EB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16552" y="27889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换视角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920240"/>
            <a:ext cx="5946343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32120" y="1920240"/>
            <a:ext cx="5946343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2157984"/>
            <a:ext cx="52148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用户视角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578608"/>
            <a:ext cx="5214823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体验不被破坏的前提下，
最多能承载多少请求？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97880" y="3730752"/>
            <a:ext cx="5214823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897880" y="3877056"/>
            <a:ext cx="1616354" cy="5486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SLA  </a:t>
            </a:r>
            <a:r>
              <a:rPr sz="13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对外承诺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97114" y="3877056"/>
            <a:ext cx="1616354" cy="5486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SLO  </a:t>
            </a:r>
            <a:r>
              <a:rPr sz="13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内部目标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6348" y="3877056"/>
            <a:ext cx="1616354" cy="5486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SLI  </a:t>
            </a:r>
            <a:r>
              <a:rPr sz="13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实测数值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065776"/>
            <a:ext cx="10765231" cy="713232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5138928"/>
            <a:ext cx="4572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065776"/>
            <a:ext cx="1030803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吞吐再高，用户等不起就不算产能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把推理服务想成一家餐厅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2011680"/>
            <a:ext cx="19482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011680"/>
            <a:ext cx="19482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377440"/>
            <a:ext cx="16556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排队等位</a:t>
            </a:r>
          </a:p>
        </p:txBody>
      </p:sp>
      <p:sp>
        <p:nvSpPr>
          <p:cNvPr id="9" name="Isosceles Triangle 8"/>
          <p:cNvSpPr/>
          <p:nvPr/>
        </p:nvSpPr>
        <p:spPr>
          <a:xfrm rot="10800000">
            <a:off x="1568470" y="3529584"/>
            <a:ext cx="237744" cy="164592"/>
          </a:xfrm>
          <a:prstGeom prst="triangle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3840480"/>
            <a:ext cx="1948220" cy="12984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059936"/>
            <a:ext cx="16556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请求排队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542" y="45537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Queue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98028" y="2697480"/>
            <a:ext cx="201168" cy="0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17484" y="2011680"/>
            <a:ext cx="19482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17484" y="2011680"/>
            <a:ext cx="1948220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788" y="2377440"/>
            <a:ext cx="16556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看菜单点单</a:t>
            </a:r>
          </a:p>
        </p:txBody>
      </p:sp>
      <p:sp>
        <p:nvSpPr>
          <p:cNvPr id="17" name="Isosceles Triangle 16"/>
          <p:cNvSpPr/>
          <p:nvPr/>
        </p:nvSpPr>
        <p:spPr>
          <a:xfrm rot="10800000">
            <a:off x="3772722" y="3529584"/>
            <a:ext cx="237744" cy="164592"/>
          </a:xfrm>
          <a:prstGeom prst="triangle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17484" y="3840480"/>
            <a:ext cx="1948220" cy="12984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788" y="4059936"/>
            <a:ext cx="16556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读完提问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5794" y="45537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A5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Prefill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02281" y="2697480"/>
            <a:ext cx="201168" cy="0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21737" y="2011680"/>
            <a:ext cx="19482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1737" y="2011680"/>
            <a:ext cx="1948220" cy="54864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68041" y="2377440"/>
            <a:ext cx="16556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第一道菜上桌</a:t>
            </a:r>
          </a:p>
        </p:txBody>
      </p:sp>
      <p:sp>
        <p:nvSpPr>
          <p:cNvPr id="25" name="Isosceles Triangle 24"/>
          <p:cNvSpPr/>
          <p:nvPr/>
        </p:nvSpPr>
        <p:spPr>
          <a:xfrm rot="10800000">
            <a:off x="5976975" y="3529584"/>
            <a:ext cx="237744" cy="164592"/>
          </a:xfrm>
          <a:prstGeom prst="triangle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21737" y="3840480"/>
            <a:ext cx="1948220" cy="12984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68041" y="4059936"/>
            <a:ext cx="16556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第一个字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10047" y="45537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TTFT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06533" y="2697480"/>
            <a:ext cx="201168" cy="0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25989" y="2011680"/>
            <a:ext cx="19482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25989" y="2011680"/>
            <a:ext cx="1948220" cy="54864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72293" y="2377440"/>
            <a:ext cx="16556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后续菜陆续上</a:t>
            </a:r>
          </a:p>
        </p:txBody>
      </p:sp>
      <p:sp>
        <p:nvSpPr>
          <p:cNvPr id="33" name="Isosceles Triangle 32"/>
          <p:cNvSpPr/>
          <p:nvPr/>
        </p:nvSpPr>
        <p:spPr>
          <a:xfrm rot="10800000">
            <a:off x="8181228" y="3529584"/>
            <a:ext cx="237744" cy="164592"/>
          </a:xfrm>
          <a:prstGeom prst="triangle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25989" y="3840480"/>
            <a:ext cx="1948220" cy="12984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2293" y="4059936"/>
            <a:ext cx="16556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逐字生成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14300" y="45537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28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TPOT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310786" y="2697480"/>
            <a:ext cx="201168" cy="0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0242" y="2011680"/>
            <a:ext cx="19482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0242" y="2011680"/>
            <a:ext cx="1948220" cy="5486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76546" y="2377440"/>
            <a:ext cx="16556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满意客人数</a:t>
            </a:r>
          </a:p>
        </p:txBody>
      </p:sp>
      <p:sp>
        <p:nvSpPr>
          <p:cNvPr id="41" name="Isosceles Triangle 40"/>
          <p:cNvSpPr/>
          <p:nvPr/>
        </p:nvSpPr>
        <p:spPr>
          <a:xfrm rot="10800000">
            <a:off x="10385480" y="3529584"/>
            <a:ext cx="237744" cy="164592"/>
          </a:xfrm>
          <a:prstGeom prst="triangle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530242" y="3840480"/>
            <a:ext cx="1948220" cy="12984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76546" y="4059936"/>
            <a:ext cx="16556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达标请求数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18552" y="45537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Goodput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" y="5394960"/>
            <a:ext cx="10765231" cy="713232"/>
          </a:xfrm>
          <a:prstGeom prst="roundRect">
            <a:avLst>
              <a:gd name="adj" fmla="val 12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3232" y="5468112"/>
            <a:ext cx="45720" cy="56692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" y="5394960"/>
            <a:ext cx="1030803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「等第一道菜」和「后面上菜快不快」是两个问题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3258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E8EFFD"/>
                </a:solidFill>
                <a:latin typeface="Segoe U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10128"/>
            <a:ext cx="45720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529584"/>
            <a:ext cx="89611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核心指标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352544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TTFT · TPOT · 达标率 · Goodput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一次请求，两个阶段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2011680"/>
            <a:ext cx="4343400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7A5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011680"/>
            <a:ext cx="4343400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286000"/>
            <a:ext cx="3749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Prefill  读题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2416" y="3008376"/>
            <a:ext cx="128016" cy="128016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889504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一次读完整段输入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2416" y="3410712"/>
            <a:ext cx="128016" cy="128016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291840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吃算力（计算密集）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2416" y="3813048"/>
            <a:ext cx="128016" cy="128016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694176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产生 KV Cache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0952" y="2743200"/>
            <a:ext cx="1481328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第一个字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20640" y="3200400"/>
            <a:ext cx="164592" cy="0"/>
          </a:xfrm>
          <a:prstGeom prst="line">
            <a:avLst/>
          </a:prstGeom>
          <a:ln w="25400">
            <a:solidFill>
              <a:srgbClr val="1421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3200400"/>
            <a:ext cx="164592" cy="0"/>
          </a:xfrm>
          <a:prstGeom prst="line">
            <a:avLst/>
          </a:prstGeom>
          <a:ln w="25400">
            <a:solidFill>
              <a:srgbClr val="1421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68312" y="2011680"/>
            <a:ext cx="4410151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C28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68312" y="2011680"/>
            <a:ext cx="4410151" cy="54864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9208" y="2286000"/>
            <a:ext cx="386151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Decode  写答案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7496" y="3008376"/>
            <a:ext cx="128016" cy="128016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889504"/>
            <a:ext cx="34957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一个字一个字生成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97496" y="3410712"/>
            <a:ext cx="128016" cy="128016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3291840"/>
            <a:ext cx="34957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吃显存带宽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97496" y="3813048"/>
            <a:ext cx="128016" cy="128016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3694176"/>
            <a:ext cx="349575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步数多，怕被打断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443984"/>
            <a:ext cx="4343400" cy="749808"/>
          </a:xfrm>
          <a:prstGeom prst="roundRect">
            <a:avLst>
              <a:gd name="adj" fmla="val 10000"/>
            </a:avLst>
          </a:prstGeom>
          <a:solidFill>
            <a:srgbClr val="EF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68312" y="4443984"/>
            <a:ext cx="4410151" cy="749808"/>
          </a:xfrm>
          <a:prstGeom prst="roundRect">
            <a:avLst>
              <a:gd name="adj" fmla="val 10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TPOT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5413248"/>
            <a:ext cx="10765231" cy="713232"/>
          </a:xfrm>
          <a:prstGeom prst="roundRect">
            <a:avLst>
              <a:gd name="adj" fmla="val 12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486400"/>
            <a:ext cx="45720" cy="56692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413248"/>
            <a:ext cx="1030803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瓶颈不同：优化 TTFT 的手段，常常伤害 TPOT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2 · TTFT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TTFT 不等于 Prefill 时间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01952"/>
            <a:ext cx="10765231" cy="312724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66543"/>
            <a:ext cx="22275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示意图（非实测数据）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2523744"/>
            <a:ext cx="164592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排队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328" y="2523744"/>
            <a:ext cx="164592" cy="164592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18360" y="2468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KV 读取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4853" y="2523744"/>
            <a:ext cx="164592" cy="164592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0885" y="2468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Prefill 计算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91253" y="2523744"/>
            <a:ext cx="164592" cy="164592"/>
          </a:xfrm>
          <a:prstGeom prst="rect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47285" y="2468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其他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346703"/>
            <a:ext cx="12252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负载低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95728" y="3072384"/>
            <a:ext cx="521072" cy="8046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16800" y="3072384"/>
            <a:ext cx="325670" cy="804672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2470" y="3072384"/>
            <a:ext cx="1302681" cy="804672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2470" y="3364991"/>
            <a:ext cx="13026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Prefill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45152" y="3072384"/>
            <a:ext cx="195402" cy="804672"/>
          </a:xfrm>
          <a:prstGeom prst="rect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86858" y="3346703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1.8 s   达标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553712"/>
            <a:ext cx="12252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负载高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95728" y="4279392"/>
            <a:ext cx="4298848" cy="8046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95728" y="4572000"/>
            <a:ext cx="4298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排队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94576" y="4279392"/>
            <a:ext cx="325670" cy="804672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20246" y="4279392"/>
            <a:ext cx="1302681" cy="804672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0246" y="4572000"/>
            <a:ext cx="130268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Prefill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2928" y="4279392"/>
            <a:ext cx="195402" cy="804672"/>
          </a:xfrm>
          <a:prstGeom prst="rect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4634" y="455371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4.7 s   违约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2163" y="2926080"/>
            <a:ext cx="0" cy="2011680"/>
          </a:xfrm>
          <a:prstGeom prst="line">
            <a:avLst/>
          </a:prstGeom>
          <a:ln w="25400">
            <a:solidFill>
              <a:srgbClr val="D045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8467" y="39684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SLO 红线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5321808"/>
            <a:ext cx="10765231" cy="786384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5394960"/>
            <a:ext cx="45720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5321808"/>
            <a:ext cx="10308031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22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只优化 Prefill 内核，救不了 TTFT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2 · TPOT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TPOT：生成时每个字的间隔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20240"/>
            <a:ext cx="6309360" cy="32004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139696"/>
            <a:ext cx="5577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用户能感觉到的差别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36192" y="4306824"/>
            <a:ext cx="5029200" cy="0"/>
          </a:xfrm>
          <a:prstGeom prst="line">
            <a:avLst/>
          </a:prstGeom>
          <a:ln w="19050">
            <a:solidFill>
              <a:srgbClr val="AEB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 Same Side Corner Rectangle 8"/>
          <p:cNvSpPr/>
          <p:nvPr/>
        </p:nvSpPr>
        <p:spPr>
          <a:xfrm>
            <a:off x="1536192" y="2897123"/>
            <a:ext cx="1309687" cy="1409700"/>
          </a:xfrm>
          <a:prstGeom prst="round2Same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494787"/>
            <a:ext cx="16754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20 字/秒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4453128"/>
            <a:ext cx="1675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50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782312"/>
            <a:ext cx="18583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流畅</a:t>
            </a:r>
          </a:p>
        </p:txBody>
      </p:sp>
      <p:sp>
        <p:nvSpPr>
          <p:cNvPr id="13" name="Round Same Side Corner Rectangle 12"/>
          <p:cNvSpPr/>
          <p:nvPr/>
        </p:nvSpPr>
        <p:spPr>
          <a:xfrm>
            <a:off x="3395948" y="3601974"/>
            <a:ext cx="1309687" cy="704850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3068" y="3199638"/>
            <a:ext cx="16754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10 字/秒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3068" y="4453128"/>
            <a:ext cx="1675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100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1628" y="4782312"/>
            <a:ext cx="18583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可接受</a:t>
            </a:r>
          </a:p>
        </p:txBody>
      </p:sp>
      <p:sp>
        <p:nvSpPr>
          <p:cNvPr id="17" name="Round Same Side Corner Rectangle 16"/>
          <p:cNvSpPr/>
          <p:nvPr/>
        </p:nvSpPr>
        <p:spPr>
          <a:xfrm>
            <a:off x="5255704" y="4095369"/>
            <a:ext cx="1309687" cy="211455"/>
          </a:xfrm>
          <a:prstGeom prst="round2Same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2824" y="3693032"/>
            <a:ext cx="16754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3 字/秒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2824" y="4453128"/>
            <a:ext cx="1675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300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1384" y="4782312"/>
            <a:ext cx="18583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明显卡顿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6912" y="1920240"/>
            <a:ext cx="4181551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96912" y="1920240"/>
            <a:ext cx="54864" cy="14630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2194560"/>
            <a:ext cx="3541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怎么算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2560320"/>
            <a:ext cx="3541471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Decode 总时间
÷ 输出字数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6912" y="3529584"/>
            <a:ext cx="4181551" cy="1591056"/>
          </a:xfrm>
          <a:prstGeom prst="roundRect">
            <a:avLst>
              <a:gd name="adj" fmla="val 7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6096" y="3767328"/>
            <a:ext cx="3541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它不是什么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4151376"/>
            <a:ext cx="354147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不是首次响应速度，
而是持续输出速度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5303520"/>
            <a:ext cx="2743200" cy="475488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367527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47872" y="5358383"/>
            <a:ext cx="731520" cy="36576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7872" y="5422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62272" y="5358383"/>
            <a:ext cx="731520" cy="36576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5422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76672" y="5358383"/>
            <a:ext cx="731520" cy="36576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76672" y="5422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91072" y="5358383"/>
            <a:ext cx="731520" cy="36576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5422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05472" y="5358383"/>
            <a:ext cx="731520" cy="36576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05472" y="5422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19871" y="5358383"/>
            <a:ext cx="731520" cy="36576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19871" y="5422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34272" y="5358383"/>
            <a:ext cx="731520" cy="36576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34272" y="5422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48672" y="5358383"/>
            <a:ext cx="731520" cy="36576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48672" y="5422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863072" y="5358383"/>
            <a:ext cx="731520" cy="36576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63072" y="5422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0832" y="5815583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间隔 = TPOT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2 · 统计口径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平均值会骗人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20240"/>
            <a:ext cx="6858000" cy="35661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16152" y="4681728"/>
            <a:ext cx="347472" cy="274320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0" y="4334256"/>
            <a:ext cx="347472" cy="621792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75688" y="3904487"/>
            <a:ext cx="347472" cy="1051560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05456" y="3538728"/>
            <a:ext cx="347472" cy="1417320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35224" y="3767328"/>
            <a:ext cx="347472" cy="1188720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1" y="4096512"/>
            <a:ext cx="347472" cy="859536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94760" y="4352544"/>
            <a:ext cx="347472" cy="603504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528" y="4535424"/>
            <a:ext cx="347472" cy="420624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54296" y="4654296"/>
            <a:ext cx="347472" cy="301752"/>
          </a:xfrm>
          <a:prstGeom prst="rect">
            <a:avLst/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4064" y="4736592"/>
            <a:ext cx="347472" cy="219456"/>
          </a:xfrm>
          <a:prstGeom prst="rect">
            <a:avLst/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13831" y="4791456"/>
            <a:ext cx="347472" cy="164592"/>
          </a:xfrm>
          <a:prstGeom prst="rect">
            <a:avLst/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4837176"/>
            <a:ext cx="347472" cy="118872"/>
          </a:xfrm>
          <a:prstGeom prst="rect">
            <a:avLst/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73368" y="4864608"/>
            <a:ext cx="347472" cy="91440"/>
          </a:xfrm>
          <a:prstGeom prst="rect">
            <a:avLst/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03136" y="4882896"/>
            <a:ext cx="347472" cy="73152"/>
          </a:xfrm>
          <a:prstGeom prst="rect">
            <a:avLst/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124712" y="4956048"/>
            <a:ext cx="6309360" cy="0"/>
          </a:xfrm>
          <a:prstGeom prst="line">
            <a:avLst/>
          </a:prstGeom>
          <a:ln w="19050">
            <a:solidFill>
              <a:srgbClr val="AEB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84064" y="2487168"/>
            <a:ext cx="0" cy="2468880"/>
          </a:xfrm>
          <a:prstGeom prst="line">
            <a:avLst/>
          </a:prstGeom>
          <a:ln w="25400">
            <a:solidFill>
              <a:srgbClr val="D045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12463" y="21579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SLO 红线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411480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越线 =
违约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93976" y="50840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p50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3048" y="50840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p90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72583" y="50840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p95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1888" y="50840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p99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45552" y="1920240"/>
            <a:ext cx="3632911" cy="1737360"/>
          </a:xfrm>
          <a:prstGeom prst="roundRect">
            <a:avLst>
              <a:gd name="adj" fmla="val 7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8" y="2231136"/>
            <a:ext cx="30111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平均达标，
不代表没人受影响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45552" y="3803904"/>
            <a:ext cx="3632911" cy="16824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4059936"/>
            <a:ext cx="30111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要看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74736" y="4553712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5904" y="4443984"/>
            <a:ext cx="2764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p90 / p95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74736" y="4919472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5904" y="4809744"/>
            <a:ext cx="2764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SLO 达标率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74736" y="5285232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5175504"/>
            <a:ext cx="2764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按上下文长度分桶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5632704"/>
            <a:ext cx="10765231" cy="676656"/>
          </a:xfrm>
          <a:prstGeom prst="roundRect">
            <a:avLst>
              <a:gd name="adj" fmla="val 12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" y="5705856"/>
            <a:ext cx="45720" cy="530352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" y="5632704"/>
            <a:ext cx="10308031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关键不是平均值，而是越线的人有多少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2 · 系统级指标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吞吐最高，Goodput 未必最高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01952"/>
            <a:ext cx="7680960" cy="36576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764792" y="4846320"/>
            <a:ext cx="6126480" cy="0"/>
          </a:xfrm>
          <a:prstGeom prst="line">
            <a:avLst/>
          </a:prstGeom>
          <a:ln w="19050">
            <a:solidFill>
              <a:srgbClr val="AEB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64792" y="2377440"/>
            <a:ext cx="0" cy="2468880"/>
          </a:xfrm>
          <a:prstGeom prst="line">
            <a:avLst/>
          </a:prstGeom>
          <a:ln w="19050">
            <a:solidFill>
              <a:srgbClr val="AEB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7471" y="2322576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指标值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4974336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系统负载  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28032" y="2377440"/>
            <a:ext cx="3063239" cy="24688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84064" y="3794760"/>
            <a:ext cx="26060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吞吐还在涨
达标率已在掉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764792" y="3957523"/>
            <a:ext cx="1225296" cy="765353"/>
          </a:xfrm>
          <a:prstGeom prst="line">
            <a:avLst/>
          </a:prstGeom>
          <a:ln w="381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990088" y="3364992"/>
            <a:ext cx="1225296" cy="592531"/>
          </a:xfrm>
          <a:prstGeom prst="line">
            <a:avLst/>
          </a:prstGeom>
          <a:ln w="381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215384" y="2969971"/>
            <a:ext cx="1225295" cy="395021"/>
          </a:xfrm>
          <a:prstGeom prst="line">
            <a:avLst/>
          </a:prstGeom>
          <a:ln w="381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440679" y="2747772"/>
            <a:ext cx="1225297" cy="222199"/>
          </a:xfrm>
          <a:prstGeom prst="line">
            <a:avLst/>
          </a:prstGeom>
          <a:ln w="381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665976" y="2673705"/>
            <a:ext cx="1225296" cy="74067"/>
          </a:xfrm>
          <a:prstGeom prst="line">
            <a:avLst/>
          </a:prstGeom>
          <a:ln w="381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764792" y="4006900"/>
            <a:ext cx="1102766" cy="715976"/>
          </a:xfrm>
          <a:prstGeom prst="line">
            <a:avLst/>
          </a:prstGeom>
          <a:ln w="38100">
            <a:solidFill>
              <a:srgbClr val="0E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867558" y="3364992"/>
            <a:ext cx="1102766" cy="641908"/>
          </a:xfrm>
          <a:prstGeom prst="line">
            <a:avLst/>
          </a:prstGeom>
          <a:ln w="38100">
            <a:solidFill>
              <a:srgbClr val="0E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970324" y="3118104"/>
            <a:ext cx="857708" cy="246888"/>
          </a:xfrm>
          <a:prstGeom prst="line">
            <a:avLst/>
          </a:prstGeom>
          <a:ln w="38100">
            <a:solidFill>
              <a:srgbClr val="0E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828032" y="3118104"/>
            <a:ext cx="980236" cy="370332"/>
          </a:xfrm>
          <a:prstGeom prst="line">
            <a:avLst/>
          </a:prstGeom>
          <a:ln w="38100">
            <a:solidFill>
              <a:srgbClr val="0E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08268" y="3488436"/>
            <a:ext cx="1041502" cy="617220"/>
          </a:xfrm>
          <a:prstGeom prst="line">
            <a:avLst/>
          </a:prstGeom>
          <a:ln w="38100">
            <a:solidFill>
              <a:srgbClr val="0E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49770" y="4105656"/>
            <a:ext cx="1041502" cy="444398"/>
          </a:xfrm>
          <a:prstGeom prst="line">
            <a:avLst/>
          </a:prstGeom>
          <a:ln w="38100">
            <a:solidFill>
              <a:srgbClr val="0E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901952" y="1956816"/>
            <a:ext cx="164592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57984" y="1901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吞吐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5552" y="1956816"/>
            <a:ext cx="164592" cy="164592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21584" y="1901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Goodput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28032" y="3118104"/>
            <a:ext cx="0" cy="1728216"/>
          </a:xfrm>
          <a:prstGeom prst="line">
            <a:avLst/>
          </a:prstGeom>
          <a:ln w="19050">
            <a:solidFill>
              <a:srgbClr val="AEB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736592" y="3026664"/>
            <a:ext cx="182880" cy="1828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0552" y="2697480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最佳工作点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68511" y="1901952"/>
            <a:ext cx="2809951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68511" y="1901952"/>
            <a:ext cx="2809951" cy="54864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79407" y="2176272"/>
            <a:ext cx="2188159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Goodput
=
吞吐 × 达标率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68511" y="3785615"/>
            <a:ext cx="2809951" cy="1773936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79407" y="4059936"/>
            <a:ext cx="218815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只有两个指标
都达标的请求，
才算真实产能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5742432"/>
            <a:ext cx="10765231" cy="640080"/>
          </a:xfrm>
          <a:prstGeom prst="roundRect">
            <a:avLst>
              <a:gd name="adj" fmla="val 12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5815584"/>
            <a:ext cx="45720" cy="493775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5742432"/>
            <a:ext cx="10308031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后面所有取舍，都围绕这条曲线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3258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E0F5F2"/>
                </a:solidFill>
                <a:latin typeface="Segoe U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10128"/>
            <a:ext cx="457200" cy="4114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529584"/>
            <a:ext cx="89611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TTFT 由什么决定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352544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为什么第一个字等很久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3 · TTFT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五类因素决定 TTFT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93392"/>
            <a:ext cx="1977481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993392"/>
            <a:ext cx="1977481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86000"/>
            <a:ext cx="153856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请求本身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32688" y="2761488"/>
            <a:ext cx="1538569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950976" y="3054096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2926080"/>
            <a:ext cx="128253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输入长度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" y="3547872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3419856"/>
            <a:ext cx="128253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前缀可否复用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" y="4041648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" y="3913632"/>
            <a:ext cx="128253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KV 命中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10169" y="1993392"/>
            <a:ext cx="1977481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10169" y="1993392"/>
            <a:ext cx="1977481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29625" y="2286000"/>
            <a:ext cx="153856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调度策略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29625" y="2761488"/>
            <a:ext cx="1538569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147913" y="3054096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49081" y="2926080"/>
            <a:ext cx="128253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队列长度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47913" y="3547872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9081" y="3419856"/>
            <a:ext cx="128253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批次组合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47913" y="4041648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49081" y="3913632"/>
            <a:ext cx="128253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队头阻塞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07106" y="1993392"/>
            <a:ext cx="1977481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07106" y="1993392"/>
            <a:ext cx="1977481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26562" y="2286000"/>
            <a:ext cx="153856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GPU 执行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26562" y="2761488"/>
            <a:ext cx="1538570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344850" y="3054096"/>
            <a:ext cx="109728" cy="109728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46018" y="2926080"/>
            <a:ext cx="128253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Prefill 产能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4850" y="3547872"/>
            <a:ext cx="109728" cy="109728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46018" y="3419856"/>
            <a:ext cx="128253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Chunk 大小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44850" y="4041648"/>
            <a:ext cx="109728" cy="109728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46018" y="3913632"/>
            <a:ext cx="128253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内核效率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04044" y="1993392"/>
            <a:ext cx="1977481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04044" y="1993392"/>
            <a:ext cx="1977481" cy="54864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23500" y="2286000"/>
            <a:ext cx="153856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部署架构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23500" y="2761488"/>
            <a:ext cx="1538569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541788" y="3054096"/>
            <a:ext cx="109728" cy="10972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42956" y="2926080"/>
            <a:ext cx="128253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PD 形态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41788" y="3547872"/>
            <a:ext cx="109728" cy="10972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42956" y="3419856"/>
            <a:ext cx="128253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资源配比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41788" y="4041648"/>
            <a:ext cx="109728" cy="10972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42956" y="3913632"/>
            <a:ext cx="128253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KV 传输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0981" y="1993392"/>
            <a:ext cx="1977481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00981" y="1993392"/>
            <a:ext cx="1977481" cy="54864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437" y="2286000"/>
            <a:ext cx="153856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显存层级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720437" y="2761488"/>
            <a:ext cx="1538570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9738725" y="3054096"/>
            <a:ext cx="109728" cy="109728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39893" y="2926080"/>
            <a:ext cx="128253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HBM 容量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38725" y="3547872"/>
            <a:ext cx="109728" cy="109728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39893" y="3419856"/>
            <a:ext cx="128253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前缀缓存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38725" y="4041648"/>
            <a:ext cx="109728" cy="109728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39893" y="3913632"/>
            <a:ext cx="128253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卸载与恢复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3232" y="4828032"/>
            <a:ext cx="10765231" cy="822960"/>
          </a:xfrm>
          <a:prstGeom prst="roundRect">
            <a:avLst>
              <a:gd name="adj" fmla="val 10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" y="4956048"/>
            <a:ext cx="107652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TTFT 差，通常不是「算得慢」，而是「等得久」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3 · 主因一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队头阻塞：一个大请求拖慢一片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65960"/>
            <a:ext cx="10765231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2176272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FCFS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" y="2743200"/>
            <a:ext cx="4206240" cy="548640"/>
          </a:xfrm>
          <a:prstGeom prst="rect">
            <a:avLst/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871216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超长请求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0952" y="2743200"/>
            <a:ext cx="822960" cy="54864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0952" y="2871216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2743200"/>
            <a:ext cx="822960" cy="54864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2871216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9752" y="2743200"/>
            <a:ext cx="822960" cy="54864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9752" y="2871216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2" y="2743200"/>
            <a:ext cx="822960" cy="54864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871216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88552" y="2743200"/>
            <a:ext cx="822960" cy="54864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2871216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5832" y="2798064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全部干等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685032"/>
            <a:ext cx="10765231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7552" y="3895344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按剩余预算排序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" y="4462272"/>
            <a:ext cx="822960" cy="548640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590288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01952" y="4462272"/>
            <a:ext cx="822960" cy="548640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01952" y="4590288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16352" y="4462272"/>
            <a:ext cx="822960" cy="548640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16352" y="4590288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30752" y="4462272"/>
            <a:ext cx="822960" cy="548640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30752" y="4590288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462272"/>
            <a:ext cx="822960" cy="548640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4590288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59552" y="4462272"/>
            <a:ext cx="4206240" cy="54864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59552" y="4590288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超长请求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2" y="4517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多数变快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5431536"/>
            <a:ext cx="10765231" cy="713232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5504688"/>
            <a:ext cx="4572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5431536"/>
            <a:ext cx="1030803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排队与调度，常常比 Prefill 内核更值得优化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3 · 主因二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PD 资源配比：存在最优区间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65960"/>
            <a:ext cx="3200400" cy="1554480"/>
          </a:xfrm>
          <a:prstGeom prst="roundRect">
            <a:avLst>
              <a:gd name="adj" fmla="val 7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76272"/>
            <a:ext cx="261518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到达速率
&gt;
Prefill 产能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2176272" y="3602736"/>
            <a:ext cx="274320" cy="182880"/>
          </a:xfrm>
          <a:prstGeom prst="triangle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3858768"/>
            <a:ext cx="320040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78224"/>
            <a:ext cx="2615184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队列持续堆积
↓
TTFT 不断恶化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1965960"/>
            <a:ext cx="7244791" cy="344728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742431" y="4663440"/>
            <a:ext cx="5095952" cy="0"/>
          </a:xfrm>
          <a:prstGeom prst="line">
            <a:avLst/>
          </a:prstGeom>
          <a:ln w="19050">
            <a:solidFill>
              <a:srgbClr val="AEB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42431" y="2514600"/>
            <a:ext cx="0" cy="2148840"/>
          </a:xfrm>
          <a:prstGeom prst="line">
            <a:avLst/>
          </a:prstGeom>
          <a:ln w="19050">
            <a:solidFill>
              <a:srgbClr val="AEB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25112" y="2459736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TTFT
越低越好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1" y="4791455"/>
            <a:ext cx="5095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分给 Decode 的资源比例  →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44351" y="2729483"/>
            <a:ext cx="713433" cy="687629"/>
          </a:xfrm>
          <a:prstGeom prst="line">
            <a:avLst/>
          </a:prstGeom>
          <a:ln w="381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57784" y="3417112"/>
            <a:ext cx="917271" cy="558699"/>
          </a:xfrm>
          <a:prstGeom prst="line">
            <a:avLst/>
          </a:prstGeom>
          <a:ln w="381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75055" y="3975811"/>
            <a:ext cx="815352" cy="214884"/>
          </a:xfrm>
          <a:prstGeom prst="line">
            <a:avLst/>
          </a:prstGeom>
          <a:ln w="381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290407" y="3803903"/>
            <a:ext cx="815352" cy="386792"/>
          </a:xfrm>
          <a:prstGeom prst="line">
            <a:avLst/>
          </a:prstGeom>
          <a:ln w="381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105759" y="3073298"/>
            <a:ext cx="815352" cy="730605"/>
          </a:xfrm>
          <a:prstGeom prst="line">
            <a:avLst/>
          </a:prstGeom>
          <a:ln w="381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921111" y="2557576"/>
            <a:ext cx="764393" cy="515722"/>
          </a:xfrm>
          <a:prstGeom prst="line">
            <a:avLst/>
          </a:prstGeom>
          <a:ln w="381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198967" y="4099255"/>
            <a:ext cx="182880" cy="1828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18807" y="4336999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最优区间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7023" y="3730752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Prefill
资源不足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3551" y="3730752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Decode
资源不足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22976"/>
            <a:ext cx="10765231" cy="676656"/>
          </a:xfrm>
          <a:prstGeom prst="roundRect">
            <a:avLst>
              <a:gd name="adj" fmla="val 12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5596128"/>
            <a:ext cx="45720" cy="530352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522976"/>
            <a:ext cx="10308031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PD 配比不是性能参数，而是 SLO 分配参数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3 · 主因三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KV 命中，不一定更快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20240"/>
            <a:ext cx="10765231" cy="3529584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2194560"/>
            <a:ext cx="164592" cy="164592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5024" y="21396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Prefill 计算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2755392" y="2194560"/>
            <a:ext cx="164592" cy="164592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1424" y="21396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搬运 / 恢复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2383" y="2176272"/>
            <a:ext cx="22275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示意图（非实测数据）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07792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HBM 命中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07792" y="2761488"/>
            <a:ext cx="220484" cy="5486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28276" y="2761488"/>
            <a:ext cx="146989" cy="5486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1570" y="29077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最快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639312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DRAM 命中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07792" y="3493008"/>
            <a:ext cx="220484" cy="5486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28276" y="3493008"/>
            <a:ext cx="1028928" cy="5486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3509" y="363931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仍然更快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370832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NVMe 命中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07792" y="4224528"/>
            <a:ext cx="220484" cy="5486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28276" y="4224528"/>
            <a:ext cx="5291632" cy="5486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8276" y="4389120"/>
            <a:ext cx="5291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6213" y="437083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反而违约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102352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未命中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7792" y="4956048"/>
            <a:ext cx="3233775" cy="5486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07792" y="5120640"/>
            <a:ext cx="3233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重新 Prefill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1567" y="4956048"/>
            <a:ext cx="0" cy="5486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7871" y="510235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看产能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98896" y="234086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TTFT 红线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70496" y="2670048"/>
            <a:ext cx="0" cy="2743200"/>
          </a:xfrm>
          <a:prstGeom prst="line">
            <a:avLst/>
          </a:prstGeom>
          <a:ln w="25400">
            <a:solidFill>
              <a:srgbClr val="D045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13232" y="5614416"/>
            <a:ext cx="10765231" cy="694944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" y="5687568"/>
            <a:ext cx="45720" cy="5486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614416"/>
            <a:ext cx="10308031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对我们的含义  ｜  </a:t>
            </a: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省下的计算，可能被搬运延迟全部吃掉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3258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FDF4E3"/>
                </a:solidFill>
                <a:latin typeface="Segoe U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10128"/>
            <a:ext cx="457200" cy="41148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529584"/>
            <a:ext cx="89611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TPOT 由什么决定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352544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谁抢走了出字的时间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4 · TPOT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每一步 Decode 都可能被拖慢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2011680"/>
            <a:ext cx="2000935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011680"/>
            <a:ext cx="2000935" cy="54864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286000"/>
            <a:ext cx="17083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注意力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51760"/>
            <a:ext cx="17083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读 KV 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4167" y="2395728"/>
            <a:ext cx="219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33623" y="2011680"/>
            <a:ext cx="2000935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33623" y="2011680"/>
            <a:ext cx="2000935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9927" y="2286000"/>
            <a:ext cx="17083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线性层 / MoE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9927" y="2651760"/>
            <a:ext cx="17083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读参数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4559" y="2395728"/>
            <a:ext cx="219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4015" y="2011680"/>
            <a:ext cx="2000935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54015" y="2011680"/>
            <a:ext cx="200093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0319" y="2286000"/>
            <a:ext cx="17083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跨卡通信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0319" y="2651760"/>
            <a:ext cx="17083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TP / 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4951" y="2395728"/>
            <a:ext cx="219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4407" y="2011680"/>
            <a:ext cx="2000935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4407" y="2011680"/>
            <a:ext cx="2000935" cy="54864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0711" y="2286000"/>
            <a:ext cx="17083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调度组批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0711" y="2651760"/>
            <a:ext cx="17083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和谁一起算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94799" y="2011680"/>
            <a:ext cx="1883664" cy="109728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下一个字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3364992"/>
            <a:ext cx="343601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3364992"/>
            <a:ext cx="54864" cy="16916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4128" y="3639312"/>
            <a:ext cx="402336" cy="402336"/>
          </a:xfrm>
          <a:prstGeom prst="ellipse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4206240"/>
            <a:ext cx="28142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显存带宽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626864"/>
            <a:ext cx="281421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最根本的上限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7842" y="3364992"/>
            <a:ext cx="343601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7842" y="3364992"/>
            <a:ext cx="54864" cy="1691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88738" y="3639312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8738" y="4206240"/>
            <a:ext cx="28142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Prefill 干扰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8738" y="4626864"/>
            <a:ext cx="281421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被抢走时间片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2452" y="3364992"/>
            <a:ext cx="343601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2452" y="3364992"/>
            <a:ext cx="54864" cy="169164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53348" y="3639312"/>
            <a:ext cx="402336" cy="402336"/>
          </a:xfrm>
          <a:prstGeom prst="ellipse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3348" y="4206240"/>
            <a:ext cx="28142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通信开销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3348" y="4626864"/>
            <a:ext cx="281421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MoE / PCIe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5193792"/>
            <a:ext cx="107652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注：MoE / PCIe 为我们的工程观测，非论文结论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5559552"/>
            <a:ext cx="10765231" cy="694944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3232" y="5632704"/>
            <a:ext cx="45720" cy="548640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" y="5559552"/>
            <a:ext cx="10308031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TPOT 慢，往常不是 Decode 本身慢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4 · 主因一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Prefill 插队，打断出字节奏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65960"/>
            <a:ext cx="10765231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34086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理想</a:t>
            </a:r>
          </a:p>
        </p:txBody>
      </p:sp>
      <p:sp>
        <p:nvSpPr>
          <p:cNvPr id="8" name="Rectangle 7"/>
          <p:cNvSpPr/>
          <p:nvPr/>
        </p:nvSpPr>
        <p:spPr>
          <a:xfrm>
            <a:off x="2313432" y="2249424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13432" y="2322576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8104" y="2249424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104" y="2322576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22776" y="2249424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22776" y="2322576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7448" y="2249424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322576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2120" y="2249424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2322576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6792" y="2249424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2322576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41464" y="2249424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41464" y="2322576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46136" y="2249424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46136" y="2322576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50808" y="2249424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0808" y="2322576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480" y="2249424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2322576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60152" y="2249424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60152" y="2322576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309067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实际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13432" y="2999232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13432" y="3072384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18104" y="2999232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18104" y="3072384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22776" y="2999232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22776" y="3072384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27448" y="2999232"/>
            <a:ext cx="1645920" cy="402336"/>
          </a:xfrm>
          <a:prstGeom prst="rect">
            <a:avLst/>
          </a:prstGeom>
          <a:solidFill>
            <a:srgbClr val="EF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27448" y="307238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Prefill 占用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01383" y="2999232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01383" y="3072384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06055" y="2999232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06055" y="3072384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10727" y="2999232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10727" y="3072384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15400" y="2999232"/>
            <a:ext cx="1645920" cy="402336"/>
          </a:xfrm>
          <a:prstGeom prst="rect">
            <a:avLst/>
          </a:prstGeom>
          <a:solidFill>
            <a:srgbClr val="EF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5400" y="307238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Prefill 占用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89336" y="2999232"/>
            <a:ext cx="676656" cy="402336"/>
          </a:xfrm>
          <a:prstGeom prst="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89336" y="3072384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" y="3877056"/>
            <a:ext cx="6035040" cy="18288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2176272" y="5166360"/>
            <a:ext cx="4206240" cy="0"/>
          </a:xfrm>
          <a:prstGeom prst="line">
            <a:avLst/>
          </a:prstGeom>
          <a:ln w="19050">
            <a:solidFill>
              <a:srgbClr val="AEB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176272" y="4114800"/>
            <a:ext cx="0" cy="1051560"/>
          </a:xfrm>
          <a:prstGeom prst="line">
            <a:avLst/>
          </a:prstGeom>
          <a:ln w="19050">
            <a:solidFill>
              <a:srgbClr val="AEB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58951" y="4059936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TPOT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76272" y="529437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干扰强度  →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2260396" y="4167378"/>
            <a:ext cx="4037991" cy="935888"/>
          </a:xfrm>
          <a:prstGeom prst="line">
            <a:avLst/>
          </a:prstGeom>
          <a:ln w="28575">
            <a:solidFill>
              <a:srgbClr val="2563E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2360066" y="4992624"/>
            <a:ext cx="137160" cy="137160"/>
          </a:xfrm>
          <a:prstGeom prst="ellipse">
            <a:avLst/>
          </a:prstGeom>
          <a:solidFill>
            <a:srgbClr val="C2810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948939" y="4866436"/>
            <a:ext cx="137160" cy="137160"/>
          </a:xfrm>
          <a:prstGeom prst="ellipse">
            <a:avLst/>
          </a:prstGeom>
          <a:solidFill>
            <a:srgbClr val="C2810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369563" y="4740249"/>
            <a:ext cx="137160" cy="137160"/>
          </a:xfrm>
          <a:prstGeom prst="ellipse">
            <a:avLst/>
          </a:prstGeom>
          <a:solidFill>
            <a:srgbClr val="C2810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958437" y="4635093"/>
            <a:ext cx="137160" cy="137160"/>
          </a:xfrm>
          <a:prstGeom prst="ellipse">
            <a:avLst/>
          </a:prstGeom>
          <a:solidFill>
            <a:srgbClr val="C2810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547311" y="4466844"/>
            <a:ext cx="137160" cy="137160"/>
          </a:xfrm>
          <a:prstGeom prst="ellipse">
            <a:avLst/>
          </a:prstGeom>
          <a:solidFill>
            <a:srgbClr val="C2810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052059" y="4403750"/>
            <a:ext cx="137160" cy="137160"/>
          </a:xfrm>
          <a:prstGeom prst="ellipse">
            <a:avLst/>
          </a:prstGeom>
          <a:solidFill>
            <a:srgbClr val="C2810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640933" y="4235500"/>
            <a:ext cx="137160" cy="137160"/>
          </a:xfrm>
          <a:prstGeom prst="ellipse">
            <a:avLst/>
          </a:prstGeom>
          <a:solidFill>
            <a:srgbClr val="C2810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45682" y="4130344"/>
            <a:ext cx="137160" cy="137160"/>
          </a:xfrm>
          <a:prstGeom prst="ellipse">
            <a:avLst/>
          </a:prstGeom>
          <a:solidFill>
            <a:srgbClr val="C2810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40864" y="4133087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R² = 0.99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022592" y="3877056"/>
            <a:ext cx="4455871" cy="1828800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33488" y="4114800"/>
            <a:ext cx="3834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干扰强度（Decode 期间）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33488" y="4517136"/>
            <a:ext cx="3834079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插入的 Prefill token 数
÷ 输出长度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33488" y="5340096"/>
            <a:ext cx="38340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→ 可预测、可控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4 · 关键旋钮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Chunk 大小：在两个指标之间移动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38528"/>
            <a:ext cx="7406640" cy="36118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084832" y="4773168"/>
            <a:ext cx="5669280" cy="0"/>
          </a:xfrm>
          <a:prstGeom prst="line">
            <a:avLst/>
          </a:prstGeom>
          <a:ln w="19050">
            <a:solidFill>
              <a:srgbClr val="AEB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84832" y="2487168"/>
            <a:ext cx="0" cy="2286000"/>
          </a:xfrm>
          <a:prstGeom prst="line">
            <a:avLst/>
          </a:prstGeom>
          <a:ln w="19050">
            <a:solidFill>
              <a:srgbClr val="AEB6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7512" y="2432304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延迟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2" y="4901184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Chunk 大小  →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8217" y="2670048"/>
            <a:ext cx="1303935" cy="685800"/>
          </a:xfrm>
          <a:prstGeom prst="line">
            <a:avLst/>
          </a:prstGeom>
          <a:ln w="381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502152" y="3355848"/>
            <a:ext cx="1417320" cy="388620"/>
          </a:xfrm>
          <a:prstGeom prst="line">
            <a:avLst/>
          </a:prstGeom>
          <a:ln w="381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19472" y="3744468"/>
            <a:ext cx="1417320" cy="251460"/>
          </a:xfrm>
          <a:prstGeom prst="line">
            <a:avLst/>
          </a:prstGeom>
          <a:ln w="381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36792" y="3995928"/>
            <a:ext cx="1303934" cy="137160"/>
          </a:xfrm>
          <a:prstGeom prst="line">
            <a:avLst/>
          </a:prstGeom>
          <a:ln w="381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198217" y="4087368"/>
            <a:ext cx="1303935" cy="228600"/>
          </a:xfrm>
          <a:prstGeom prst="line">
            <a:avLst/>
          </a:prstGeom>
          <a:ln w="38100">
            <a:solidFill>
              <a:srgbClr val="C281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502152" y="3744468"/>
            <a:ext cx="1417320" cy="342900"/>
          </a:xfrm>
          <a:prstGeom prst="line">
            <a:avLst/>
          </a:prstGeom>
          <a:ln w="38100">
            <a:solidFill>
              <a:srgbClr val="C281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919472" y="3218688"/>
            <a:ext cx="1417320" cy="525780"/>
          </a:xfrm>
          <a:prstGeom prst="line">
            <a:avLst/>
          </a:prstGeom>
          <a:ln w="38100">
            <a:solidFill>
              <a:srgbClr val="C281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336792" y="2670048"/>
            <a:ext cx="1303934" cy="548640"/>
          </a:xfrm>
          <a:prstGeom prst="line">
            <a:avLst/>
          </a:prstGeom>
          <a:ln w="38100">
            <a:solidFill>
              <a:srgbClr val="C2810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221992" y="2103120"/>
            <a:ext cx="164592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78024" y="204825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26232" y="2103120"/>
            <a:ext cx="164592" cy="164592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2264" y="204825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TPOT</a:t>
            </a:r>
          </a:p>
        </p:txBody>
      </p:sp>
      <p:sp>
        <p:nvSpPr>
          <p:cNvPr id="23" name="Oval 22"/>
          <p:cNvSpPr/>
          <p:nvPr/>
        </p:nvSpPr>
        <p:spPr>
          <a:xfrm>
            <a:off x="4828032" y="3653028"/>
            <a:ext cx="182880" cy="1828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328726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平衡点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94192" y="1938528"/>
            <a:ext cx="3084271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94192" y="1938528"/>
            <a:ext cx="3084271" cy="54864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2212848"/>
            <a:ext cx="24990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块大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688336"/>
            <a:ext cx="24990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产能高 → TTFT ↓
打断重 → TPOT 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94192" y="3858768"/>
            <a:ext cx="3084271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94192" y="3858768"/>
            <a:ext cx="3084271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4133087"/>
            <a:ext cx="24990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块小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608576"/>
            <a:ext cx="24990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打断轻 → TPOT ↓
产能低 → TTFT 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5669280"/>
            <a:ext cx="10765231" cy="658368"/>
          </a:xfrm>
          <a:prstGeom prst="roundRect">
            <a:avLst>
              <a:gd name="adj" fmla="val 12000"/>
            </a:avLst>
          </a:prstGeom>
          <a:solidFill>
            <a:srgbClr val="EF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5742432"/>
            <a:ext cx="45720" cy="512063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5669280"/>
            <a:ext cx="1030803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不是越大越好，而是把预算从一个指标挪给另一个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4 · 架构权衡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没有普遍更优，只有更适配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38528"/>
            <a:ext cx="6949440" cy="32918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43784" y="2194560"/>
            <a:ext cx="140817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TTFT 松
TPOT 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8264" y="2194560"/>
            <a:ext cx="140817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TTFT 紧
TPOT 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2744" y="2194560"/>
            <a:ext cx="140817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两者都紧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346703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PD 聚合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5496" y="3026663"/>
            <a:ext cx="1444752" cy="9144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↓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达标率下降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5" y="3026663"/>
            <a:ext cx="1444752" cy="914400"/>
          </a:xfrm>
          <a:prstGeom prst="roundRect">
            <a:avLst>
              <a:gd name="adj" fmla="val 10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97%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胜出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34455" y="3026663"/>
            <a:ext cx="1444752" cy="914400"/>
          </a:xfrm>
          <a:prstGeom prst="roundRect">
            <a:avLst>
              <a:gd name="adj" fmla="val 1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↓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明显下降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4352544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PD 分离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25496" y="4032503"/>
            <a:ext cx="1444752" cy="914400"/>
          </a:xfrm>
          <a:prstGeom prst="roundRect">
            <a:avLst>
              <a:gd name="adj" fmla="val 1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98%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胜出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5" y="4032503"/>
            <a:ext cx="1444752" cy="9144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↓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达标率下降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34455" y="4032503"/>
            <a:ext cx="1444752" cy="914400"/>
          </a:xfrm>
          <a:prstGeom prst="roundRect">
            <a:avLst>
              <a:gd name="adj" fmla="val 1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↓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明显下降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1938528"/>
            <a:ext cx="3541471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36992" y="1938528"/>
            <a:ext cx="54864" cy="694944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2029968"/>
            <a:ext cx="3084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聚合的风险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286000"/>
            <a:ext cx="30842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TPOT 被干扰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36992" y="2798064"/>
            <a:ext cx="3541471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36992" y="2798064"/>
            <a:ext cx="54864" cy="694944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4736" y="2889504"/>
            <a:ext cx="3084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分离的风险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3145536"/>
            <a:ext cx="30842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TTFT 被排队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3657600"/>
            <a:ext cx="3541471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36992" y="3657600"/>
            <a:ext cx="54864" cy="694944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3749039"/>
            <a:ext cx="3084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聚合的长处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4005072"/>
            <a:ext cx="30842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Prefill 产能高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6992" y="4517136"/>
            <a:ext cx="3541471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36992" y="4517136"/>
            <a:ext cx="54864" cy="694944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4608575"/>
            <a:ext cx="3084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分离的长处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4864607"/>
            <a:ext cx="30842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可独立扩缩容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5431536"/>
            <a:ext cx="10765231" cy="749808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5504688"/>
            <a:ext cx="45720" cy="60350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" y="5431536"/>
            <a:ext cx="10308031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2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先定「哪个指标不能违约」，再选架构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3258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EFEBFE"/>
                </a:solidFill>
                <a:latin typeface="Segoe U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10128"/>
            <a:ext cx="457200" cy="41148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529584"/>
            <a:ext cx="89611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五层控制手段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352544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架构 · 调度 · 执行 · 显存 · 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5 · 总框架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五层旋钮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64991" y="1920240"/>
            <a:ext cx="5461711" cy="749808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在 SLO 约束下最大化 Goodput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01972" y="2670048"/>
            <a:ext cx="0" cy="274320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13232" y="2999232"/>
            <a:ext cx="1977481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999232"/>
            <a:ext cx="1977481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291840"/>
            <a:ext cx="161172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架构层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3822191"/>
            <a:ext cx="1611721" cy="42062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PD 聚合 / 分离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4334256"/>
            <a:ext cx="1611721" cy="42062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资源配比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98910" y="2670048"/>
            <a:ext cx="0" cy="274320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10169" y="2999232"/>
            <a:ext cx="1977481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10169" y="2999232"/>
            <a:ext cx="1977481" cy="54864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3049" y="3291840"/>
            <a:ext cx="161172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调度层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3049" y="3822191"/>
            <a:ext cx="1611721" cy="42062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优先级策略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93049" y="4334256"/>
            <a:ext cx="1611721" cy="42062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批次组合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5847" y="2670048"/>
            <a:ext cx="0" cy="274320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7106" y="2999232"/>
            <a:ext cx="1977481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07106" y="2999232"/>
            <a:ext cx="1977481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89986" y="3291840"/>
            <a:ext cx="161172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89986" y="3822191"/>
            <a:ext cx="1611721" cy="42062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Chunk 大小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89986" y="4334256"/>
            <a:ext cx="1611721" cy="42062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内核效率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92785" y="2670048"/>
            <a:ext cx="0" cy="274320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04044" y="2999232"/>
            <a:ext cx="1977481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04044" y="2999232"/>
            <a:ext cx="1977481" cy="54864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6924" y="3291840"/>
            <a:ext cx="161172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显存层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86924" y="3822191"/>
            <a:ext cx="1611721" cy="42062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前缀缓存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86924" y="4334256"/>
            <a:ext cx="1611721" cy="42062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KV 放置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489722" y="2670048"/>
            <a:ext cx="0" cy="274320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00981" y="2999232"/>
            <a:ext cx="1977481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00981" y="2999232"/>
            <a:ext cx="1977481" cy="54864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83861" y="3291840"/>
            <a:ext cx="161172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通信层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83861" y="3822191"/>
            <a:ext cx="1611721" cy="42062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并行方式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83861" y="4334256"/>
            <a:ext cx="1611721" cy="420624"/>
          </a:xfrm>
          <a:prstGeom prst="roundRect">
            <a:avLst>
              <a:gd name="adj" fmla="val 2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NVLink / PCIe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5193792"/>
            <a:ext cx="10765231" cy="73152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3232" y="5266944"/>
            <a:ext cx="45720" cy="585216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5193792"/>
            <a:ext cx="10308031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同一份延迟预算的五个分配入口，动一处必看另一处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5 · 架构层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Prefill 与 Decode 怎么共享资源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93392"/>
            <a:ext cx="3436010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993392"/>
            <a:ext cx="343601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286000"/>
            <a:ext cx="281421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PD 聚合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79776"/>
            <a:ext cx="28142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共用同一批 GPU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24128" y="3255264"/>
            <a:ext cx="2814218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24128" y="3419856"/>
            <a:ext cx="2814218" cy="676656"/>
          </a:xfrm>
          <a:prstGeom prst="roundRect">
            <a:avLst>
              <a:gd name="adj" fmla="val 1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493008"/>
            <a:ext cx="252161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Prefill 产能高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4206240"/>
            <a:ext cx="2814218" cy="676656"/>
          </a:xfrm>
          <a:prstGeom prst="roundRect">
            <a:avLst>
              <a:gd name="adj" fmla="val 1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279392"/>
            <a:ext cx="252161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两阶段互相抢占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7842" y="1993392"/>
            <a:ext cx="3436010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7842" y="1993392"/>
            <a:ext cx="3436010" cy="54864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8738" y="2286000"/>
            <a:ext cx="281421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PD 分离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8738" y="2779776"/>
            <a:ext cx="28142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分池独立部署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88738" y="3255264"/>
            <a:ext cx="2814218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88738" y="3419856"/>
            <a:ext cx="2814218" cy="676656"/>
          </a:xfrm>
          <a:prstGeom prst="roundRect">
            <a:avLst>
              <a:gd name="adj" fmla="val 1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35042" y="3493008"/>
            <a:ext cx="252161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隔离干扰，TPOT 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88738" y="4206240"/>
            <a:ext cx="2814218" cy="676656"/>
          </a:xfrm>
          <a:prstGeom prst="roundRect">
            <a:avLst>
              <a:gd name="adj" fmla="val 1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35042" y="4279392"/>
            <a:ext cx="252161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产能受配比限制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2452" y="1993392"/>
            <a:ext cx="3436010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2452" y="1993392"/>
            <a:ext cx="3436010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3348" y="2286000"/>
            <a:ext cx="281421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混合 / 动态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3348" y="2779776"/>
            <a:ext cx="28142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按紧急程度分配落点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53348" y="3255264"/>
            <a:ext cx="2814219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353348" y="3419856"/>
            <a:ext cx="2814218" cy="676656"/>
          </a:xfrm>
          <a:prstGeom prst="roundRect">
            <a:avLst>
              <a:gd name="adj" fmla="val 1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99652" y="3493008"/>
            <a:ext cx="252161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在实例间搬移压力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53348" y="4206240"/>
            <a:ext cx="2814218" cy="676656"/>
          </a:xfrm>
          <a:prstGeom prst="roundRect">
            <a:avLst>
              <a:gd name="adj" fmla="val 10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99652" y="4279392"/>
            <a:ext cx="252161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调度复杂度高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5358384"/>
            <a:ext cx="10765231" cy="713232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5431536"/>
            <a:ext cx="4572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5358384"/>
            <a:ext cx="1030803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架构跟着 SLO 走，不跟着跑分走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5 · 调度层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谁先算：从「谁先到」到「谁快没时间了」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2011680"/>
            <a:ext cx="2485567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011680"/>
            <a:ext cx="2485567" cy="54864"/>
          </a:xfrm>
          <a:prstGeom prst="rect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304288"/>
            <a:ext cx="2010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FCFS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798064"/>
            <a:ext cx="2010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先来先服务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0976" y="3255264"/>
            <a:ext cx="2010079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50976" y="3401568"/>
            <a:ext cx="2010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712463"/>
            <a:ext cx="2010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队头阻塞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35375" y="3200400"/>
            <a:ext cx="201168" cy="0"/>
          </a:xfrm>
          <a:prstGeom prst="line">
            <a:avLst/>
          </a:prstGeom>
          <a:ln w="2222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73119" y="2011680"/>
            <a:ext cx="2485567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3119" y="2011680"/>
            <a:ext cx="2485567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0863" y="2304288"/>
            <a:ext cx="2010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SJF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0863" y="2798064"/>
            <a:ext cx="2010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短作业优先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10863" y="3255264"/>
            <a:ext cx="2010080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10863" y="3401568"/>
            <a:ext cx="2010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0863" y="3712463"/>
            <a:ext cx="2010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长请求被推迟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95263" y="3200400"/>
            <a:ext cx="201168" cy="0"/>
          </a:xfrm>
          <a:prstGeom prst="line">
            <a:avLst/>
          </a:prstGeom>
          <a:ln w="2222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3007" y="2011680"/>
            <a:ext cx="2485567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007" y="2011680"/>
            <a:ext cx="2485567" cy="54864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0751" y="2304288"/>
            <a:ext cx="2010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EDF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0751" y="2798064"/>
            <a:ext cx="2010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最早截止优先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70751" y="3255264"/>
            <a:ext cx="2010080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70751" y="3401568"/>
            <a:ext cx="2010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0751" y="3712463"/>
            <a:ext cx="2010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看不出执行代价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55151" y="3200400"/>
            <a:ext cx="201168" cy="0"/>
          </a:xfrm>
          <a:prstGeom prst="line">
            <a:avLst/>
          </a:prstGeom>
          <a:ln w="2222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992895" y="2011680"/>
            <a:ext cx="2485567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92895" y="2011680"/>
            <a:ext cx="2485567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0639" y="2304288"/>
            <a:ext cx="2010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剩余预算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0639" y="2798064"/>
            <a:ext cx="2010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还能等多久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30639" y="3255264"/>
            <a:ext cx="2010080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230639" y="3401568"/>
            <a:ext cx="2010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0639" y="3712463"/>
            <a:ext cx="2010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依赖预测能力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4882896"/>
            <a:ext cx="10765231" cy="731520"/>
          </a:xfrm>
          <a:prstGeom prst="roundRect">
            <a:avLst>
              <a:gd name="adj" fmla="val 12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3232" y="4956048"/>
            <a:ext cx="45720" cy="585216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4882896"/>
            <a:ext cx="10308031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20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调度不创造算力，但是提升达标率最便宜的一层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5 · 核心概念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延迟预算：还能等多久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20240"/>
            <a:ext cx="10765231" cy="749808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剩余预算  =  SLO 目标  −  预计还需时间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852928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TTFT 目标 = 5 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255264"/>
            <a:ext cx="6766560" cy="9692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54787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请求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67712" y="3529584"/>
            <a:ext cx="3291840" cy="420624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67712" y="3529584"/>
            <a:ext cx="658368" cy="420624"/>
          </a:xfrm>
          <a:prstGeom prst="rect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67712" y="3602736"/>
            <a:ext cx="6583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已占用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3529584"/>
            <a:ext cx="2633472" cy="420624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33872" y="3511296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9488"/>
                </a:solidFill>
                <a:latin typeface="Segoe UI"/>
                <a:ea typeface="Microsoft YaHei"/>
                <a:cs typeface="Microsoft YaHei"/>
              </a:rPr>
              <a:t>剩 4.0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352544"/>
            <a:ext cx="6766560" cy="9692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64515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请求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67712" y="4626864"/>
            <a:ext cx="3291840" cy="420624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67712" y="4626864"/>
            <a:ext cx="2962656" cy="420624"/>
          </a:xfrm>
          <a:prstGeom prst="rect">
            <a:avLst/>
          </a:prstGeom>
          <a:solidFill>
            <a:srgbClr val="AE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7712" y="4700016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已占用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0368" y="4626864"/>
            <a:ext cx="329184" cy="420624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3872" y="4608576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剩 0.5 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449824"/>
            <a:ext cx="6766560" cy="786384"/>
          </a:xfrm>
          <a:prstGeom prst="roundRect">
            <a:avLst>
              <a:gd name="adj" fmla="val 8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5577840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同样一次 300ms 的 KV 搬运：A 无所谓，B 直接违约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54112" y="2852928"/>
            <a:ext cx="3724351" cy="640080"/>
          </a:xfrm>
          <a:prstGeom prst="roundRect">
            <a:avLst>
              <a:gd name="adj" fmla="val 12000"/>
            </a:avLst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剩余预算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29117" y="3493008"/>
            <a:ext cx="0" cy="219455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54112" y="3767328"/>
            <a:ext cx="115001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排队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16287" y="3493008"/>
            <a:ext cx="0" cy="219455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282" y="3767328"/>
            <a:ext cx="115001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28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KV 搬运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903458" y="3493008"/>
            <a:ext cx="0" cy="219455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328452" y="3767328"/>
            <a:ext cx="115001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04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抢占重算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29117" y="4425696"/>
            <a:ext cx="1287170" cy="27432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16287" y="4425696"/>
            <a:ext cx="0" cy="27432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9616287" y="4425696"/>
            <a:ext cx="1287171" cy="274320"/>
          </a:xfrm>
          <a:prstGeom prst="line">
            <a:avLst/>
          </a:prstGeom>
          <a:ln w="1587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754112" y="4754880"/>
            <a:ext cx="3724351" cy="6400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预算耗尽 = 违约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16287" y="5394960"/>
            <a:ext cx="0" cy="219456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54112" y="5669280"/>
            <a:ext cx="3724351" cy="566928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Goodput 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5 · 执行 · 显存 · 通信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底层优化要翻译成 SLO 语言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993392"/>
            <a:ext cx="343601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993392"/>
            <a:ext cx="3436010" cy="5486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286000"/>
            <a:ext cx="281421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2779776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A5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主要影响 TTFT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24128" y="3328416"/>
            <a:ext cx="2814218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42416" y="3593591"/>
            <a:ext cx="109728" cy="109728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3474720"/>
            <a:ext cx="255818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算子与注意力实现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2416" y="3995928"/>
            <a:ext cx="109728" cy="109728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3584" y="3877056"/>
            <a:ext cx="255818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Chunk / Batch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7842" y="1993392"/>
            <a:ext cx="343601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7842" y="1993392"/>
            <a:ext cx="3436010" cy="54864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8738" y="2286000"/>
            <a:ext cx="281421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显存层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88738" y="2779776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28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两者都影响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88738" y="3328416"/>
            <a:ext cx="2814218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707026" y="3593591"/>
            <a:ext cx="109728" cy="109728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8194" y="3474720"/>
            <a:ext cx="255818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前缀缓存复用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7026" y="3995928"/>
            <a:ext cx="109728" cy="109728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8194" y="3877056"/>
            <a:ext cx="255818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KV 放置与卸载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2452" y="1993392"/>
            <a:ext cx="343601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2452" y="1993392"/>
            <a:ext cx="3436010" cy="54864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3348" y="2286000"/>
            <a:ext cx="281421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通信层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53348" y="2779776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045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主要影响 TPOT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53348" y="3328416"/>
            <a:ext cx="2814219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371636" y="3593591"/>
            <a:ext cx="109728" cy="109728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72804" y="3474720"/>
            <a:ext cx="255818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TP / EP 通信量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71636" y="3995928"/>
            <a:ext cx="109728" cy="109728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2804" y="3877056"/>
            <a:ext cx="255818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NVLink / PCIe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517136"/>
            <a:ext cx="10765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以通信为例，看它怎么传导到业务结果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901184"/>
            <a:ext cx="1933590" cy="658368"/>
          </a:xfrm>
          <a:prstGeom prst="roundRect">
            <a:avLst>
              <a:gd name="adj" fmla="val 14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通信变慢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683398" y="5230368"/>
            <a:ext cx="201168" cy="0"/>
          </a:xfrm>
          <a:prstGeom prst="line">
            <a:avLst/>
          </a:prstGeom>
          <a:ln w="2222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921142" y="4901184"/>
            <a:ext cx="1933590" cy="658368"/>
          </a:xfrm>
          <a:prstGeom prst="roundRect">
            <a:avLst>
              <a:gd name="adj" fmla="val 14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单步变长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891308" y="5230368"/>
            <a:ext cx="201168" cy="0"/>
          </a:xfrm>
          <a:prstGeom prst="line">
            <a:avLst/>
          </a:prstGeom>
          <a:ln w="2222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129052" y="4901184"/>
            <a:ext cx="1933590" cy="658368"/>
          </a:xfrm>
          <a:prstGeom prst="roundRect">
            <a:avLst>
              <a:gd name="adj" fmla="val 14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TPOT ↑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099218" y="5230368"/>
            <a:ext cx="201168" cy="0"/>
          </a:xfrm>
          <a:prstGeom prst="line">
            <a:avLst/>
          </a:prstGeom>
          <a:ln w="2222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336962" y="4901184"/>
            <a:ext cx="1933590" cy="658368"/>
          </a:xfrm>
          <a:prstGeom prst="roundRect">
            <a:avLst>
              <a:gd name="adj" fmla="val 14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0454C"/>
                </a:solidFill>
                <a:latin typeface="Segoe UI"/>
                <a:ea typeface="Microsoft YaHei"/>
                <a:cs typeface="Microsoft YaHei"/>
              </a:rPr>
              <a:t>达标率 ↓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307128" y="5230368"/>
            <a:ext cx="201168" cy="0"/>
          </a:xfrm>
          <a:prstGeom prst="line">
            <a:avLst/>
          </a:prstGeom>
          <a:ln w="22225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544872" y="4901184"/>
            <a:ext cx="1933590" cy="658368"/>
          </a:xfrm>
          <a:prstGeom prst="roundRect">
            <a:avLst>
              <a:gd name="adj" fmla="val 14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Goodput 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" y="5760720"/>
            <a:ext cx="10765231" cy="621792"/>
          </a:xfrm>
          <a:prstGeom prst="roundRect">
            <a:avLst>
              <a:gd name="adj" fmla="val 12000"/>
            </a:avLst>
          </a:prstGeom>
          <a:solidFill>
            <a:srgbClr val="EF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" y="5833872"/>
            <a:ext cx="45720" cy="475488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5760720"/>
            <a:ext cx="10308031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核心结论  ｜  </a:t>
            </a: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任何优化都要回答：省下了哪个指标的预算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3258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E8EFFD"/>
                </a:solidFill>
                <a:latin typeface="Segoe U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10128"/>
            <a:ext cx="45720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529584"/>
            <a:ext cx="89611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系统级优化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352544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在 SLO 约束下最大化 Goodput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6 · 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从负载到产能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993391" y="1920240"/>
            <a:ext cx="4114800" cy="566928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业务负载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290572" y="2487168"/>
            <a:ext cx="662939" cy="201168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48072" y="2487168"/>
            <a:ext cx="662940" cy="201168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2743200"/>
            <a:ext cx="3154679" cy="621792"/>
          </a:xfrm>
          <a:prstGeom prst="roundRect">
            <a:avLst>
              <a:gd name="adj" fmla="val 12000"/>
            </a:avLst>
          </a:prstGeom>
          <a:solidFill>
            <a:srgbClr val="EF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Prefill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90572" y="3364992"/>
            <a:ext cx="0" cy="201168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33672" y="2743200"/>
            <a:ext cx="3154679" cy="621792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Decode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11012" y="3364992"/>
            <a:ext cx="0" cy="201168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3232" y="3566160"/>
            <a:ext cx="3154679" cy="621792"/>
          </a:xfrm>
          <a:prstGeom prst="roundRect">
            <a:avLst>
              <a:gd name="adj" fmla="val 12000"/>
            </a:avLst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TTFT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90572" y="4187952"/>
            <a:ext cx="0" cy="201168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33672" y="3566160"/>
            <a:ext cx="3154679" cy="621792"/>
          </a:xfrm>
          <a:prstGeom prst="roundRect">
            <a:avLst>
              <a:gd name="adj" fmla="val 12000"/>
            </a:avLst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TPOT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11012" y="4187952"/>
            <a:ext cx="0" cy="201168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4443984"/>
            <a:ext cx="3154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5AF8"/>
                </a:solidFill>
                <a:latin typeface="Segoe UI"/>
                <a:ea typeface="Microsoft YaHei"/>
                <a:cs typeface="Microsoft YaHei"/>
              </a:rPr>
              <a:t>排队 · KV · 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4443984"/>
            <a:ext cx="3154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810C"/>
                </a:solidFill>
                <a:latin typeface="Segoe UI"/>
                <a:ea typeface="Microsoft YaHei"/>
                <a:cs typeface="Microsoft YaHei"/>
              </a:rPr>
              <a:t>带宽 · 干扰 · 通信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90572" y="4754880"/>
            <a:ext cx="662939" cy="201168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148072" y="4754880"/>
            <a:ext cx="662940" cy="201168"/>
          </a:xfrm>
          <a:prstGeom prst="line">
            <a:avLst/>
          </a:prstGeom>
          <a:ln w="19050">
            <a:solidFill>
              <a:srgbClr val="AEB6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627632" y="5010912"/>
            <a:ext cx="4846320" cy="603504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SLO 达标率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50791" y="5614416"/>
            <a:ext cx="0" cy="182880"/>
          </a:xfrm>
          <a:prstGeom prst="line">
            <a:avLst/>
          </a:prstGeom>
          <a:ln w="22225">
            <a:solidFill>
              <a:srgbClr val="AEB6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267712" y="5852160"/>
            <a:ext cx="3566160" cy="658368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Goodput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54112" y="1920240"/>
            <a:ext cx="3724351" cy="4590288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2157984"/>
            <a:ext cx="31391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我们能动的五层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633472"/>
            <a:ext cx="313913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633472"/>
            <a:ext cx="54864" cy="6035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6" y="2779776"/>
            <a:ext cx="28099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架构层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346704"/>
            <a:ext cx="313913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3346704"/>
            <a:ext cx="54864" cy="603504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6176" y="3493008"/>
            <a:ext cx="28099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调度层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059936"/>
            <a:ext cx="313913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4059936"/>
            <a:ext cx="54864" cy="603504"/>
          </a:xfrm>
          <a:prstGeom prst="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6" y="4206240"/>
            <a:ext cx="28099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4773168"/>
            <a:ext cx="313913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4773168"/>
            <a:ext cx="54864" cy="603504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6176" y="4919472"/>
            <a:ext cx="28099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显存层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5486400"/>
            <a:ext cx="3139135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5486400"/>
            <a:ext cx="54864" cy="603504"/>
          </a:xfrm>
          <a:prstGeom prst="rect">
            <a:avLst/>
          </a:prstGeom>
          <a:solidFill>
            <a:srgbClr val="D04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66176" y="5632704"/>
            <a:ext cx="28099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通信层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7516368" y="4023360"/>
            <a:ext cx="347472" cy="0"/>
          </a:xfrm>
          <a:prstGeom prst="line">
            <a:avLst/>
          </a:prstGeom>
          <a:ln w="19050">
            <a:solidFill>
              <a:srgbClr val="AEB6C4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046720" y="6181344"/>
            <a:ext cx="31391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动一处，看另一处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93776"/>
            <a:ext cx="4572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PART 6 · 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68096"/>
            <a:ext cx="10765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我们的工作在图上的位置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1316736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13232" y="1874519"/>
            <a:ext cx="10765231" cy="512064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29967"/>
            <a:ext cx="3081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我们的工作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8469" y="2029967"/>
            <a:ext cx="8204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4992" y="2029967"/>
            <a:ext cx="24352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改善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46300" y="2029967"/>
            <a:ext cx="34041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37460"/>
            <a:ext cx="3081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PD 分离 / 配比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469" y="2537460"/>
            <a:ext cx="8204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4992" y="2537460"/>
            <a:ext cx="24352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TPOT 稳定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300" y="2537460"/>
            <a:ext cx="34041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Prefill 产能不足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2889504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13232" y="2889504"/>
            <a:ext cx="10765231" cy="502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040380"/>
            <a:ext cx="3081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Chunked Prefill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469" y="3040380"/>
            <a:ext cx="8204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4992" y="3040380"/>
            <a:ext cx="24352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两者的平衡点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46300" y="3040380"/>
            <a:ext cx="34041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块太小伤产能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3232" y="3392424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1248" y="3543300"/>
            <a:ext cx="3081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KV 卸载 / LMCache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469" y="3543300"/>
            <a:ext cx="8204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显存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4992" y="3543300"/>
            <a:ext cx="24352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长上下文成本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46300" y="3543300"/>
            <a:ext cx="34041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恢复延迟拖高 TTFT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3232" y="3895344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13232" y="3895344"/>
            <a:ext cx="10765231" cy="502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046220"/>
            <a:ext cx="3081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调度与批次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8469" y="4046220"/>
            <a:ext cx="8204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调度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4992" y="4046220"/>
            <a:ext cx="24352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达标率、长尾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46300" y="4046220"/>
            <a:ext cx="34041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长请求被饿死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232" y="4398264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1248" y="4549140"/>
            <a:ext cx="3081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TP / EP 通信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78469" y="4549140"/>
            <a:ext cx="8204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通信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4992" y="4549140"/>
            <a:ext cx="24352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单步时间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46300" y="4549140"/>
            <a:ext cx="34041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通信抖动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3232" y="4901183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13232" y="4901183"/>
            <a:ext cx="10765231" cy="502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5052059"/>
            <a:ext cx="30811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GPU 利用率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78469" y="5052059"/>
            <a:ext cx="8204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4992" y="5052059"/>
            <a:ext cx="24352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吞吐与成本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46300" y="5052059"/>
            <a:ext cx="34041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利用率拉满反降 Goodput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13232" y="5404103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13232" y="1874519"/>
            <a:ext cx="10765231" cy="0"/>
          </a:xfrm>
          <a:prstGeom prst="line">
            <a:avLst/>
          </a:prstGeom>
          <a:ln w="952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13232" y="5614416"/>
            <a:ext cx="10765231" cy="713232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3232" y="5687568"/>
            <a:ext cx="45720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" y="5614416"/>
            <a:ext cx="1030803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汇报口径  ｜  </a:t>
            </a:r>
            <a:r>
              <a:rPr sz="19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不说「内核快了 X%」，而说「同样 SLO 下多接 Y% 请求」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640080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大模型推理服务：SLO 与 Goodput  ·  技术分享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81183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EB6C4"/>
                </a:solidFill>
                <a:latin typeface="Segoe UI"/>
                <a:ea typeface="Microsoft YaHei"/>
                <a:cs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097280"/>
            <a:ext cx="10765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不是让某个内核更快，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40864"/>
            <a:ext cx="10765231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563EB"/>
                </a:solidFill>
                <a:latin typeface="Segoe UI"/>
                <a:ea typeface="Microsoft YaHei"/>
                <a:cs typeface="Microsoft YaHei"/>
              </a:rPr>
              <a:t>而是在给定 TTFT / TPOT 下，
让系统承载更多请求。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986784"/>
            <a:ext cx="10765231" cy="9601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最大化 Goodput      s.t.   TTFT ≤ 目标   且   TPOT ≤ 目标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5175504"/>
            <a:ext cx="3436010" cy="9692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5175504"/>
            <a:ext cx="54864" cy="9692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5340096"/>
            <a:ext cx="292394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统一语言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705856"/>
            <a:ext cx="29239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TTFT / TPOT / 达标率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7842" y="5175504"/>
            <a:ext cx="3436010" cy="9692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7842" y="5175504"/>
            <a:ext cx="54864" cy="969264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2162" y="5340096"/>
            <a:ext cx="292394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统一判据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2162" y="5705856"/>
            <a:ext cx="29239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达标请求变多了吗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2452" y="5175504"/>
            <a:ext cx="3436010" cy="9692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2452" y="5175504"/>
            <a:ext cx="54864" cy="969264"/>
          </a:xfrm>
          <a:prstGeom prst="rect">
            <a:avLst/>
          </a:prstGeom>
          <a:solidFill>
            <a:srgbClr val="C28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6772" y="5340096"/>
            <a:ext cx="292394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Segoe UI"/>
                <a:ea typeface="Microsoft YaHei"/>
                <a:cs typeface="Microsoft YaHei"/>
              </a:rPr>
              <a:t>统一地图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772" y="5705856"/>
            <a:ext cx="292394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4A63"/>
                </a:solidFill>
                <a:latin typeface="Segoe UI"/>
                <a:ea typeface="Microsoft YaHei"/>
                <a:cs typeface="Microsoft YaHei"/>
              </a:rPr>
              <a:t>五层旋钮互相牵制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345936"/>
            <a:ext cx="10765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95A8"/>
                </a:solidFill>
                <a:latin typeface="Segoe UI"/>
                <a:ea typeface="Microsoft YaHei"/>
                <a:cs typeface="Microsoft YaHei"/>
              </a:rPr>
              <a:t>谢谢  ·  欢迎讨论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