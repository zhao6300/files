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开场：今天不讲具体算子优化，而是先把「我们到底在优化什么」讲清楚。这套语言讲通了，后面所有工作的价值就容易说明白。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先给结论。如果领导只听三句话，就是：体验可量化、达标率比平均值重要、最终目标是 Goodput。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路线图。前四部分建立共识（指标是什么、问题从哪来），后两部分说明我们在做什么。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进入第一部分：为什么要引入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关键在于换视角：机器强不强 → 用户满不满意。吞吐再高，用户等不起就不算产能。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用餐厅打比方，帮非技术同事建立直觉。后面所有术语都能对回这张图。等第一道菜=TTFT，后面上菜节奏=TPOT。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进入第二部分：把四个核心词定义清楚。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先对齐术语：SLA 是对外承诺，SLO 是我们定的目标，SLI 是实测值。我们的工作是让 SLI 稳定落在 SLO 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这是全篇最重要的机制页：一次请求有两个性质完全不同的阶段。Prefill 吃算力，Decode 吃显存带宽。因此优化一个常会伤另一个。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TTFT ≠ Prefill 时间。它是排队+调度+KV读取+计算+传输的总和，很多时候大头不在计算。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TPOT 描述的是持续出字速度。给出 50/100/300ms 的体感参照，让非技术同事有直观标尺。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统计口径：不要只看平均值。要看 p90/p95 和达标率，并且按场景分桶，避免长上下文请求被系统性牺牲。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Goodput = 吞吐 × 达标率。重点讲清「吞吐拉满反而掉 Goodput」的因果链，这是后面所有取舍的总纲。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进入第三部分：TTFT 到底由什么决定。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TTFT 拆成一条链路，右边是五类影响因素。落脚点：TTFT 差往往不是算得慢，而是等得久。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排队与队头阻塞是最容易被忽视的。对比 FCFS 和按剩余预算排序的效果差异。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Prefill 产能不足是排队的根源，也是 PD 分离容易踩的坑。右图强调 PD 配比与 TTFT 是非单调关系，存在最优区间。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反直觉结论：KV 命中不一定更快。以 64K 上下文命中在 NVMe 为例，搬运延迟可能直接导致违约。这页与我们的 KV 卸载工作直接相关。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进入第四部分：TPOT 由什么决定。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TPOT 是每一步耗时的累积。注意标注：MoE / PCIe 部分是我们自己的工程观测，不是论文结论。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用时间片图讲清 Prefill 对 Decode 的打断。干扰强度可量化，实验中与 TPOT 近似线性（R²=0.99），说明它是可控的。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大小是典型的权衡旋钮：大块利 TTFT 伤 TPOT，小块反之。它不是性能参数，而是预算分配参数。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 聚合 vs 分离没有普遍更优。三种 SLO 场景下结论会反转——这正说明架构要跟着 SLO 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进入第五部分：我们手上有哪些控制手段。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总框架图。五层旋钮是同一份延迟预算的五个分配入口，动一处必看另一处代价。这页可以作为汇报的主图。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架构层：聚合、分离、混合各自换来什么、代价是什么。混合方案的思路是按请求紧急程度选择落点。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调度层：从 FCFS 到剩余预算优先的演进。调度不创造算力，但是提升达标率成本最低的一层。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延迟预算是把全篇串起来的概念：同一个 300ms 的操作，对 A 无所谓，对 B 就是违约。由此把排队、KV 搬运、抢占放到同一把尺子上比较。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显存与 KV 层：强调优化目标不是命中率，而是达标请求数。必要时重算比搬运更划算。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执行与通信层：底层优化必须能翻译成「省下了哪个指标的预算」。以通信为例给出完整传导链。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进入最后一部分：收束到系统级目标。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全景图：从负载特征一路到 Goodput，右侧是我们能动的五层旋钮。建议这页多停留。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把我们已有的工作逐项落到框架里，并明确每项要同时盯住的风险。最后一行给出建议的汇报口径。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收尾：目标是在给定 SLO 下承载更多请求。三个「统一」是希望团队之后共同遵守的工作方式。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73568" y="0"/>
            <a:ext cx="4218127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0"/>
            <a:ext cx="18288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技术分享  ·  推理系统性能优化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93392"/>
            <a:ext cx="566928" cy="457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6949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大模型推理服务的
SLO 与 Goodput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50208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从「跑得更快」到「稳定达标」
我们衡量什么、为什么会违约、我们有哪些控制手段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074920"/>
            <a:ext cx="1874519" cy="713232"/>
          </a:xfrm>
          <a:prstGeom prst="roundRect">
            <a:avLst>
              <a:gd name="adj" fmla="val 14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首字延迟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5074920"/>
            <a:ext cx="1874519" cy="713232"/>
          </a:xfrm>
          <a:prstGeom prst="roundRect">
            <a:avLst>
              <a:gd name="adj" fmla="val 14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每字延迟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4608" y="5074920"/>
            <a:ext cx="1874519" cy="713232"/>
          </a:xfrm>
          <a:prstGeom prst="roundRect">
            <a:avLst>
              <a:gd name="adj" fmla="val 14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有效吞吐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汇报人：＿＿＿      日期：2026 / 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81328"/>
            <a:ext cx="166420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第一个字多久出来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8" y="1481328"/>
            <a:ext cx="166420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后续每个字多快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07424" y="2139696"/>
            <a:ext cx="411480" cy="530352"/>
          </a:xfrm>
          <a:prstGeom prst="line">
            <a:avLst/>
          </a:prstGeom>
          <a:ln w="15875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543032" y="2139696"/>
            <a:ext cx="411480" cy="530352"/>
          </a:xfrm>
          <a:prstGeom prst="line">
            <a:avLst/>
          </a:prstGeom>
          <a:ln w="15875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2724912"/>
            <a:ext cx="351129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 达标率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多少比例的请求满足体验要求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30968" y="3383280"/>
            <a:ext cx="0" cy="438911"/>
          </a:xfrm>
          <a:prstGeom prst="line">
            <a:avLst/>
          </a:prstGeom>
          <a:ln w="15875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75320" y="3877056"/>
            <a:ext cx="3511296" cy="8412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DCE6FD"/>
                </a:solidFill>
                <a:latin typeface="Segoe UI"/>
                <a:ea typeface="Microsoft YaHei"/>
                <a:cs typeface="Microsoft YaHei"/>
              </a:rPr>
              <a:t>达标前提下能承载的请求量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864608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系统优化的最终目标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写在最前面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一页话讲清这次分享的三个观点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如果只记住三句话，就记这三句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345429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3454298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2140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EFFD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70048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用户体验是可以被量化的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3273552"/>
            <a:ext cx="283250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4128" y="3438144"/>
            <a:ext cx="28325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用户对「快」的感受只有两件事：
第一个字等多久（TTFT）、
后面的字出得稳不稳（TPOT）。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4663440"/>
            <a:ext cx="2832506" cy="566928"/>
          </a:xfrm>
          <a:prstGeom prst="roundRect">
            <a:avLst>
              <a:gd name="adj" fmla="val 10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736592"/>
            <a:ext cx="25398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→ 它们对应两个完全不同的计算阶段，优化手段也完全不同。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1828800"/>
            <a:ext cx="345429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698" y="1828800"/>
            <a:ext cx="3454298" cy="5029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9594" y="212140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0F5F2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594" y="2670048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平均值不重要，达标率才重要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79594" y="3273552"/>
            <a:ext cx="283250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79594" y="3438144"/>
            <a:ext cx="28325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平均延迟好看，不代表用户不投诉。
真正要看的是：有多少比例的
请求越过了红线。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79594" y="4663440"/>
            <a:ext cx="2832506" cy="566928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5898" y="4736592"/>
            <a:ext cx="25398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→ 我们关注 p90 / p95 长尾，以及分场景的达标率。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4164" y="1828800"/>
            <a:ext cx="345429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4164" y="1828800"/>
            <a:ext cx="3454298" cy="5029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5060" y="212140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DF4E3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5060" y="2670048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最终目标是 Goodput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35060" y="3273552"/>
            <a:ext cx="2832507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35060" y="3438144"/>
            <a:ext cx="28325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在「体验达标」的前提下，
同样的 GPU 最多能接多少请求，
这才是真实产能。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5060" y="4663440"/>
            <a:ext cx="2832506" cy="566928"/>
          </a:xfrm>
          <a:prstGeom prst="roundRect">
            <a:avLst>
              <a:gd name="adj" fmla="val 10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1364" y="4736592"/>
            <a:ext cx="25398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→ 吞吐做到最高，Goodput 反而可能下降。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632704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705856"/>
            <a:ext cx="45720" cy="420623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63270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一句话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我们做的每一项底层优化（PD 部署、Chunk 大小、KV Cache、通信），最终都会汇聚成这一个数字。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内容框架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这份材料的六个部分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沿着一条主线：从目标 → 指标 → 成因 → 手段 → 系统级权衡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920240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45720" cy="15727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1945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231136"/>
            <a:ext cx="23570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为什么需要 SLO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852928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推理系统到底在优化什么？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920240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698" y="1920240"/>
            <a:ext cx="45720" cy="15727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43018" y="21945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3370" y="2231136"/>
            <a:ext cx="23570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2852928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TTFT / TPOT / Goodput 怎么定义？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4164" y="1920240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4164" y="1920240"/>
            <a:ext cx="45720" cy="15727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98484" y="2194560"/>
            <a:ext cx="384048" cy="384048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8836" y="2231136"/>
            <a:ext cx="23570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由什么决定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2852928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为什么第一个字会等很久？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767328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767328"/>
            <a:ext cx="45720" cy="15727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041648"/>
            <a:ext cx="384048" cy="384048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904" y="4078224"/>
            <a:ext cx="23570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由什么决定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700016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为什么生成会卡顿？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8698" y="3767328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8698" y="3767328"/>
            <a:ext cx="45720" cy="157276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3018" y="4041648"/>
            <a:ext cx="384048" cy="384048"/>
          </a:xfrm>
          <a:prstGeom prst="ellipse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3370" y="4078224"/>
            <a:ext cx="23570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有哪些控制手段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3018" y="4700016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系统上有哪些「旋钮」？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4164" y="3767328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24164" y="3767328"/>
            <a:ext cx="45720" cy="157276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98484" y="4041648"/>
            <a:ext cx="384048" cy="384048"/>
          </a:xfrm>
          <a:prstGeom prst="ellipse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8836" y="4078224"/>
            <a:ext cx="23570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系统级优化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8484" y="4700016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为什么最终要优化 Goodput？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596128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5669280"/>
            <a:ext cx="45720" cy="42062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59612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阅读方式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前 4 部分建立共识：指标是什么、问题从哪来；后 2 部分说明：我们在做什么、为什么这样做。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8EFFD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661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为什么需要 SLO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推理系统到底在优化什么？
为什么「跑得快」不等于「服务好」。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1 · 为什么需要 SLO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指标的视角，要从「机器」换到「用户」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4879695" cy="3200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4257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过去常看的「性能指标」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24128" y="2468880"/>
            <a:ext cx="4257903" cy="0"/>
          </a:xfrm>
          <a:prstGeom prst="line">
            <a:avLst/>
          </a:prstGeom>
          <a:ln w="1270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24128" y="2743200"/>
            <a:ext cx="146304" cy="146304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3965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吞吐 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07791"/>
            <a:ext cx="396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每秒能处理多少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291840"/>
            <a:ext cx="146304" cy="146304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18688"/>
            <a:ext cx="3965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延迟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56432"/>
            <a:ext cx="396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平均响应多快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3840479"/>
            <a:ext cx="146304" cy="146304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767327"/>
            <a:ext cx="3965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GPU 利用率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05072"/>
            <a:ext cx="396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卡有没有闲着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" y="4389119"/>
            <a:ext cx="146304" cy="146304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315967"/>
            <a:ext cx="3965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Tokens /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53712"/>
            <a:ext cx="396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峰值跑分能到多少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645152"/>
            <a:ext cx="4257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特点：描述机器有多强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94095" y="3383280"/>
            <a:ext cx="621792" cy="0"/>
          </a:xfrm>
          <a:prstGeom prst="line">
            <a:avLst/>
          </a:prstGeom>
          <a:ln w="25400">
            <a:solidFill>
              <a:srgbClr val="2563EB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47791" y="29443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换视角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98767" y="1828800"/>
            <a:ext cx="4879695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98767" y="1828800"/>
            <a:ext cx="4879695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9663" y="2084831"/>
            <a:ext cx="4257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线上服务真正关心的问题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9663" y="2468880"/>
            <a:ext cx="4257904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09663" y="2651760"/>
            <a:ext cx="42579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在用户体验不被破坏的前提下，
这套系统最多能承载多少请求？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09663" y="3547872"/>
            <a:ext cx="4257904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09663" y="363931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0367" y="3639312"/>
            <a:ext cx="3142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把体验写成可检查的目标（如首字 ≤ 2 秒）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9663" y="40416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 达标率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0367" y="4041648"/>
            <a:ext cx="3142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实际有多少比例的请求达到了目标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9663" y="444398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0367" y="4443984"/>
            <a:ext cx="3142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达标请求的吞吐，也就是真实产能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9663" y="4700016"/>
            <a:ext cx="4257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特点：描述用户是否满意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358384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5431536"/>
            <a:ext cx="45720" cy="42062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35838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吞吐再高，如果用户等不起，就不能算作有效产能；所以优化目标要从 Performance 转向 SLO。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1 · 建立直觉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用一家餐厅来理解推理服务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后面所有术语，都可以对应到这张图上的某个环节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901952"/>
            <a:ext cx="196285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01952"/>
            <a:ext cx="1962851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57984"/>
            <a:ext cx="16336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第 1 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16336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客人进门排队</a:t>
            </a:r>
          </a:p>
        </p:txBody>
      </p:sp>
      <p:sp>
        <p:nvSpPr>
          <p:cNvPr id="11" name="Isosceles Triangle 10"/>
          <p:cNvSpPr/>
          <p:nvPr/>
        </p:nvSpPr>
        <p:spPr>
          <a:xfrm rot="10800000">
            <a:off x="1594073" y="3255264"/>
            <a:ext cx="201168" cy="137160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3493008"/>
            <a:ext cx="1962851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657600"/>
            <a:ext cx="163366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请求排队等待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" y="42245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Queue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03515" y="2523744"/>
            <a:ext cx="182880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13827" y="1901952"/>
            <a:ext cx="196285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13827" y="1901952"/>
            <a:ext cx="1962851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8419" y="2157984"/>
            <a:ext cx="16336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第 2 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8419" y="2432304"/>
            <a:ext cx="16336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服务员看菜单点单</a:t>
            </a:r>
          </a:p>
        </p:txBody>
      </p:sp>
      <p:sp>
        <p:nvSpPr>
          <p:cNvPr id="20" name="Isosceles Triangle 19"/>
          <p:cNvSpPr/>
          <p:nvPr/>
        </p:nvSpPr>
        <p:spPr>
          <a:xfrm rot="10800000">
            <a:off x="3794668" y="3255264"/>
            <a:ext cx="201168" cy="137160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13827" y="3493008"/>
            <a:ext cx="1962851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78419" y="3657600"/>
            <a:ext cx="163366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读取并理解整个提问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78419" y="42245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04110" y="2523744"/>
            <a:ext cx="182880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14422" y="1901952"/>
            <a:ext cx="196285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4422" y="1901952"/>
            <a:ext cx="1962851" cy="4572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9014" y="2157984"/>
            <a:ext cx="16336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第 3 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9014" y="2432304"/>
            <a:ext cx="16336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第一道菜上桌</a:t>
            </a:r>
          </a:p>
        </p:txBody>
      </p:sp>
      <p:sp>
        <p:nvSpPr>
          <p:cNvPr id="29" name="Isosceles Triangle 28"/>
          <p:cNvSpPr/>
          <p:nvPr/>
        </p:nvSpPr>
        <p:spPr>
          <a:xfrm rot="10800000">
            <a:off x="5995263" y="3255264"/>
            <a:ext cx="201168" cy="137160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14422" y="3493008"/>
            <a:ext cx="1962851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9014" y="3657600"/>
            <a:ext cx="163366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第一个字出现 → TTFT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79014" y="42245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04705" y="2523744"/>
            <a:ext cx="182880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15017" y="1901952"/>
            <a:ext cx="196285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017" y="1901952"/>
            <a:ext cx="1962851" cy="4572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609" y="2157984"/>
            <a:ext cx="16336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第 4 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609" y="2432304"/>
            <a:ext cx="16336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后面的菜陆续上</a:t>
            </a:r>
          </a:p>
        </p:txBody>
      </p:sp>
      <p:sp>
        <p:nvSpPr>
          <p:cNvPr id="38" name="Isosceles Triangle 37"/>
          <p:cNvSpPr/>
          <p:nvPr/>
        </p:nvSpPr>
        <p:spPr>
          <a:xfrm rot="10800000">
            <a:off x="8195858" y="3255264"/>
            <a:ext cx="201168" cy="137160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017" y="3493008"/>
            <a:ext cx="1962851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9609" y="3657600"/>
            <a:ext cx="163366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逐字生成 → TPOT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79609" y="42245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Decode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305300" y="2523744"/>
            <a:ext cx="182880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515612" y="1901952"/>
            <a:ext cx="196285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15612" y="1901952"/>
            <a:ext cx="1962851" cy="457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80204" y="2157984"/>
            <a:ext cx="16336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第 5 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0204" y="2432304"/>
            <a:ext cx="16336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今天接待了多少满意客人</a:t>
            </a:r>
          </a:p>
        </p:txBody>
      </p:sp>
      <p:sp>
        <p:nvSpPr>
          <p:cNvPr id="47" name="Isosceles Triangle 46"/>
          <p:cNvSpPr/>
          <p:nvPr/>
        </p:nvSpPr>
        <p:spPr>
          <a:xfrm rot="10800000">
            <a:off x="10396453" y="3255264"/>
            <a:ext cx="201168" cy="137160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515612" y="3493008"/>
            <a:ext cx="1962851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80204" y="3657600"/>
            <a:ext cx="163366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达标的请求数
→ Goodput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80204" y="42245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4882896"/>
            <a:ext cx="10765231" cy="603504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7552" y="4882896"/>
            <a:ext cx="10216591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关键区别  ｜  </a:t>
            </a:r>
            <a:r>
              <a:rPr sz="13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「等第一道菜」和「后面上菜快不快」</a:t>
            </a:r>
            <a:r>
              <a:rPr sz="13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  是两种完全不同的体验问题，餐厅里的解法也不同（增加点单人手 / 增加后厨出菜速度）。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232" y="5632704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232" y="5705856"/>
            <a:ext cx="45720" cy="420623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" y="563270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推理系统之所以有两个指标，是因为一次请求里真的存在两个性质完全不同的阶段。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8EFFD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661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 的核心指标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TTFT、TPOT、达标率、Goodput
这四个词说清楚，后面就都好谈了。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术语对齐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SLA / SLO / SLI：先把话说到同一个频道上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45720" cy="15727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SLA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5059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Service Level Agreement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4320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服务等级协议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35808"/>
            <a:ext cx="29056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对外承诺：做不到要负责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94962" y="2615184"/>
            <a:ext cx="146304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68698" y="1828800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828800"/>
            <a:ext cx="45720" cy="157276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2029968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SLO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245059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Service Level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274320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服务等级目标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018" y="3035808"/>
            <a:ext cx="29056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对内目标：系统要达到的数值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50428" y="2615184"/>
            <a:ext cx="146304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24164" y="1828800"/>
            <a:ext cx="345429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4164" y="1828800"/>
            <a:ext cx="45720" cy="157276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8484" y="2029968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SLI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8484" y="245059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Service Level Indicator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8484" y="274320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服务等级指标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8484" y="3035808"/>
            <a:ext cx="29056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实际测量：现在到底是多少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65760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一个具体例子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396849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13232" y="4114800"/>
            <a:ext cx="10765231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224528"/>
            <a:ext cx="785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3044" y="4224528"/>
            <a:ext cx="59947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3823" y="4224528"/>
            <a:ext cx="32166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谁来看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663440"/>
            <a:ext cx="785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83044" y="4663440"/>
            <a:ext cx="59947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99% 的请求必须在承诺的响应时间内完成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3823" y="4663440"/>
            <a:ext cx="32166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客户 / 业务方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499262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13232" y="4992624"/>
            <a:ext cx="10765231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120640"/>
            <a:ext cx="785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83044" y="5120640"/>
            <a:ext cx="59947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TTFT ≤ 2s（首字）；TPOT ≤ 100ms（后续每字）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3823" y="5120640"/>
            <a:ext cx="32166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我们自己定的工程目标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" y="544982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" y="5577840"/>
            <a:ext cx="785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83044" y="5577840"/>
            <a:ext cx="59947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实测 TTFT / TPOT 的 p50、p90、p95，以及 SLO 达标率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3823" y="5577840"/>
            <a:ext cx="32166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监控与优化的依据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590702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3232" y="4114800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13232" y="5815584"/>
            <a:ext cx="10765231" cy="530352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888736"/>
            <a:ext cx="45720" cy="3840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815584"/>
            <a:ext cx="1030803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SLA 是承诺，SLO 是目标，SLI 是事实；我们的工作是让 SLI 稳定落在 SLO 之内。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一次请求天然分成两段，所以天然有两个 SLO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74519"/>
            <a:ext cx="41605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74519"/>
            <a:ext cx="4160520" cy="5029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084831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 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42032"/>
            <a:ext cx="3611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把整段提问一次性读完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054096"/>
            <a:ext cx="914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980944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一次处理全部输入内容，计算量集中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328415"/>
            <a:ext cx="914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255263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吃 GPU 算力（计算密集型）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602736"/>
            <a:ext cx="914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529584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过程中产生 KV Cache（后续生成要用的记忆）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877056"/>
            <a:ext cx="914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3803904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目标：尽快吐出第一个字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19472" y="3017520"/>
            <a:ext cx="658368" cy="0"/>
          </a:xfrm>
          <a:prstGeom prst="line">
            <a:avLst/>
          </a:prstGeom>
          <a:ln w="22225">
            <a:solidFill>
              <a:srgbClr val="1421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50992" y="2578608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第一个字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B9C2D6"/>
                </a:solidFill>
                <a:latin typeface="Segoe UI"/>
                <a:ea typeface="Microsoft YaHei"/>
                <a:cs typeface="Microsoft YaHei"/>
              </a:rPr>
              <a:t>First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41464" y="3017520"/>
            <a:ext cx="658367" cy="0"/>
          </a:xfrm>
          <a:prstGeom prst="line">
            <a:avLst/>
          </a:prstGeom>
          <a:ln w="22225">
            <a:solidFill>
              <a:srgbClr val="1421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72983" y="1874519"/>
            <a:ext cx="3605479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72983" y="1874519"/>
            <a:ext cx="3605479" cy="5029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47304" y="2084831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Decode 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542032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一个字一个字往外写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65592" y="3054096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2980944"/>
            <a:ext cx="29928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自回归：每一步只生成一个 token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65592" y="3328415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3255263"/>
            <a:ext cx="29928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反复读取 KV Cache（吃显存带宽）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65592" y="3602736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529584"/>
            <a:ext cx="29928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单步计算量小，但步数多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65592" y="3877056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3803904"/>
            <a:ext cx="29928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目标：稳定、连续地出字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352544"/>
            <a:ext cx="4160520" cy="658368"/>
          </a:xfrm>
          <a:prstGeom prst="roundRect">
            <a:avLst>
              <a:gd name="adj" fmla="val 10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4352544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对应指标：</a:t>
            </a:r>
            <a:r>
              <a:rPr sz="16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TTFT</a:t>
            </a: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（首字延迟）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72983" y="4352544"/>
            <a:ext cx="3605479" cy="658368"/>
          </a:xfrm>
          <a:prstGeom prst="roundRect">
            <a:avLst>
              <a:gd name="adj" fmla="val 10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7304" y="4352544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对应指标：</a:t>
            </a:r>
            <a:r>
              <a:rPr sz="16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TPOT</a:t>
            </a: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（每字延迟）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175504"/>
            <a:ext cx="10765231" cy="512064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175504"/>
            <a:ext cx="102165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白话版：Prefill 像「读题」，算力越强读得越快；Decode 像「手写答案」，写得快不快更取决于翻阅笔记（显存带宽）的速度。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797296"/>
            <a:ext cx="10765231" cy="530352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5870448"/>
            <a:ext cx="45720" cy="384047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797296"/>
            <a:ext cx="1030803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两个阶段的瓶颈不同（算力 vs 带宽），所以优化 TTFT 的手段，往往会伤害 TPOT。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指标定义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TTFT：用户从提问到看到第一个字的等待时间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Time To First Token —— 决定「这个系统反应快不快」的第一印象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993392"/>
            <a:ext cx="200674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93392"/>
            <a:ext cx="200674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12848"/>
            <a:ext cx="1714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排队等待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05456"/>
            <a:ext cx="17141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61488"/>
            <a:ext cx="171413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前面还有别的请求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9974" y="23957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2854" y="1993392"/>
            <a:ext cx="200674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2854" y="1993392"/>
            <a:ext cx="200674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9158" y="2212848"/>
            <a:ext cx="1714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9158" y="2505456"/>
            <a:ext cx="17141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9158" y="2761488"/>
            <a:ext cx="171413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什么时候被挑中执行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9596" y="23957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2476" y="1993392"/>
            <a:ext cx="200674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2476" y="1993392"/>
            <a:ext cx="2006742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8780" y="2212848"/>
            <a:ext cx="1714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读取 KV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8780" y="2505456"/>
            <a:ext cx="17141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KV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80" y="2761488"/>
            <a:ext cx="171413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命中的缓存要搬进显存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9218" y="23957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2098" y="1993392"/>
            <a:ext cx="200674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2098" y="1993392"/>
            <a:ext cx="2006742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8402" y="2212848"/>
            <a:ext cx="1714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8402" y="2505456"/>
            <a:ext cx="17141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Prefill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8402" y="2761488"/>
            <a:ext cx="171413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真正的模型计算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8840" y="23957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71720" y="1993392"/>
            <a:ext cx="200674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1720" y="1993392"/>
            <a:ext cx="2006742" cy="4572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8024" y="2212848"/>
            <a:ext cx="1714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结果传输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8024" y="2505456"/>
            <a:ext cx="17141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8024" y="2761488"/>
            <a:ext cx="171413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跨实例/跨卡的数据搬运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173736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请求到达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5263" y="173736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第一个字出现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3346704"/>
            <a:ext cx="10765231" cy="603504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 =  排队  +  调度  +  KV 读取  +  Prefill 计算  +  数据传输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151376"/>
            <a:ext cx="5263743" cy="1280160"/>
          </a:xfrm>
          <a:prstGeom prst="roundRect">
            <a:avLst>
              <a:gd name="adj" fmla="val 8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352544"/>
            <a:ext cx="47151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最容易误解的一点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4700016"/>
            <a:ext cx="47151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 ≠  Prefill 计算时间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4719" y="4151376"/>
            <a:ext cx="5263743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9039" y="4352544"/>
            <a:ext cx="47151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这意味着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9039" y="4663440"/>
            <a:ext cx="44773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把 Prefill 的算子优化到极限，TTFT 也可能很差；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9039" y="4992624"/>
            <a:ext cx="44773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因为大量时间可能消耗在排队、等调度、搬 KV 上。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632704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705856"/>
            <a:ext cx="45720" cy="42062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63270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优化 TTFT 不能只盯着 Prefill 内核，要看它在整条链路上真正把时间花在了哪里。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指标定义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TPOT：生成过程中平均每个字的间隔时间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Time Per Output Token —— 决定「读起来是否顺畅、会不会卡顿」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9"/>
            <a:ext cx="55778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74519"/>
            <a:ext cx="45720" cy="21488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03120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9572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Decode 阶段平均生成一个输出 token 所需的时间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3072384"/>
            <a:ext cx="4956048" cy="512064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 ≈  Decode 总时间  /  （输出字数 − 1）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675887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它刻画的是「持续输出速度」，而不是首次响应速度。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8816" y="1874519"/>
            <a:ext cx="4949647" cy="214884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103120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用户侧的感受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9712" y="2505456"/>
            <a:ext cx="50292" cy="310896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450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50 ms / 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468880"/>
            <a:ext cx="2755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约 20 字/秒，明显快于阅读速度，体验流畅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9712" y="3017520"/>
            <a:ext cx="5029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29626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100 ms / 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980944"/>
            <a:ext cx="2755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约 10 字/秒，接近正常阅读速度，可接受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9712" y="3529584"/>
            <a:ext cx="50292" cy="310896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6016" y="3474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300 ms / 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493008"/>
            <a:ext cx="2755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约 3 字/秒，肉眼可见地「一顿一顿」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2452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两个指标在时间轴上的位置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4828032"/>
            <a:ext cx="10765231" cy="0"/>
          </a:xfrm>
          <a:prstGeom prst="line">
            <a:avLst/>
          </a:prstGeom>
          <a:ln w="15875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13232" y="4645152"/>
            <a:ext cx="2834640" cy="36576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6908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TTFT（含排队与 Prefill）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47872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4736592"/>
            <a:ext cx="146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07408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736592"/>
            <a:ext cx="146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66944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6944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0176" y="4736592"/>
            <a:ext cx="146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79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4736592"/>
            <a:ext cx="146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86016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4736592"/>
            <a:ext cx="146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45551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5551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8783" y="4736592"/>
            <a:ext cx="146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05088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5088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19" y="4736592"/>
            <a:ext cx="146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64624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64624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77856" y="4736592"/>
            <a:ext cx="146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24159" y="4700016"/>
            <a:ext cx="713232" cy="256032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59" y="473659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47872" y="5047488"/>
            <a:ext cx="79305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← 每两个字之间的平均间隔 = TPOT 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05856"/>
            <a:ext cx="10765231" cy="54864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3232" y="5779008"/>
            <a:ext cx="45720" cy="402335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" y="5705856"/>
            <a:ext cx="103080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决定「愿不愿意等」，TPOT 决定「看得顺不顺」；两者都达标，用户才算满意。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统计口径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平均值会骗人：SLO 本质上是长尾问题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594360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482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延迟分布：大多数请求很快，少数请求很慢（横轴为百分位）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242816"/>
            <a:ext cx="292608" cy="256032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53895" y="3931920"/>
            <a:ext cx="292608" cy="566928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10512" y="3538728"/>
            <a:ext cx="292608" cy="96012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3200400"/>
            <a:ext cx="292608" cy="1298448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3744" y="3401568"/>
            <a:ext cx="292608" cy="109728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3712463"/>
            <a:ext cx="292608" cy="786384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36976" y="3950208"/>
            <a:ext cx="292608" cy="54864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93591" y="4114800"/>
            <a:ext cx="292608" cy="384048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50208" y="4224528"/>
            <a:ext cx="292608" cy="27432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4297680"/>
            <a:ext cx="292608" cy="201168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4352544"/>
            <a:ext cx="292608" cy="146304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0056" y="4389120"/>
            <a:ext cx="292608" cy="109728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76672" y="4416552"/>
            <a:ext cx="292608" cy="82296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33288" y="4434840"/>
            <a:ext cx="292608" cy="64008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024128" y="4498848"/>
            <a:ext cx="5349240" cy="0"/>
          </a:xfrm>
          <a:prstGeom prst="line">
            <a:avLst/>
          </a:prstGeom>
          <a:ln w="15875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06824" y="2487168"/>
            <a:ext cx="0" cy="2194560"/>
          </a:xfrm>
          <a:prstGeom prst="line">
            <a:avLst/>
          </a:prstGeom>
          <a:ln w="19050">
            <a:solidFill>
              <a:srgbClr val="D04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92424" y="224942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SLO 红线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405993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越线的请求
= SLO 违约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457200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p50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9272" y="457200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p90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32504" y="457200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p95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57200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p99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4576" y="1828800"/>
            <a:ext cx="4583887" cy="1463040"/>
          </a:xfrm>
          <a:prstGeom prst="roundRect">
            <a:avLst>
              <a:gd name="adj" fmla="val 7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68896" y="2029968"/>
            <a:ext cx="4035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2322576"/>
            <a:ext cx="4035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平均延迟达标，不代表没有用户受影响。真正重要的是：有多少请求越过了红线。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94576" y="3438144"/>
            <a:ext cx="4583887" cy="14996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68896" y="3621024"/>
            <a:ext cx="4035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所以我们至少要同时看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87184" y="4014215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0064" y="3931920"/>
            <a:ext cx="3760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TTFT 的 p50 / p90 / p95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4343400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0064" y="4261104"/>
            <a:ext cx="3760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TPOT 的 p50 / p90 / p95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87184" y="4672583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70064" y="4590288"/>
            <a:ext cx="3760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SLO 达标率 = 达标请求数 ÷ 总请求数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5102352"/>
            <a:ext cx="10765231" cy="566928"/>
          </a:xfrm>
          <a:prstGeom prst="roundRect">
            <a:avLst>
              <a:gd name="adj" fmla="val 10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" y="5102352"/>
            <a:ext cx="102165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还要注意  ｜  </a:t>
            </a: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只看整体达标率，可能掩盖「长上下文请求被长期饿死」的问题</a:t>
            </a: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——建议按业务场景 / 上下文长度分桶统计。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5797296"/>
            <a:ext cx="10765231" cy="530352"/>
          </a:xfrm>
          <a:prstGeom prst="roundRect">
            <a:avLst>
              <a:gd name="adj" fmla="val 12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5870448"/>
            <a:ext cx="45720" cy="384047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797296"/>
            <a:ext cx="1030803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不追求平均值好看，而追求「越线的人足够少」，并且没有一类用户被系统性牺牲。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系统级指标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Goodput：把「达标」和「产能」合成一个数字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55778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5577840" cy="5029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4825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4086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在同时满足 TTFT 与 TPOT 目标的前提下，
系统能够持续承载的最大请求速率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346704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Goodput  =  Throughput  ×  SLO 达标率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0416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更严格地说：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Goodput  =  单位时间内「TTFT 达标 且 TPOT 达标」的请求数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92224"/>
            <a:ext cx="49130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为什么「吞吐拉满」反而会掉 Goodput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2194560"/>
            <a:ext cx="4913071" cy="457200"/>
          </a:xfrm>
          <a:prstGeom prst="roundRect">
            <a:avLst>
              <a:gd name="adj" fmla="val 14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把吞吐压到最高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21927" y="2651760"/>
            <a:ext cx="0" cy="146304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65392" y="2816352"/>
            <a:ext cx="4913071" cy="457200"/>
          </a:xfrm>
          <a:prstGeom prst="roundRect">
            <a:avLst>
              <a:gd name="adj" fmla="val 14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GPU 利用率上升、批次变大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21927" y="3273552"/>
            <a:ext cx="0" cy="146304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65392" y="3438144"/>
            <a:ext cx="4913071" cy="457200"/>
          </a:xfrm>
          <a:prstGeom prst="roundRect">
            <a:avLst>
              <a:gd name="adj" fmla="val 14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排队变长 · 相互干扰变强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21927" y="3895344"/>
            <a:ext cx="0" cy="146304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65392" y="4059936"/>
            <a:ext cx="4913071" cy="457200"/>
          </a:xfrm>
          <a:prstGeom prst="roundRect">
            <a:avLst>
              <a:gd name="adj" fmla="val 14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长尾延迟恶化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21927" y="4517136"/>
            <a:ext cx="0" cy="146304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65392" y="4681728"/>
            <a:ext cx="4913071" cy="457200"/>
          </a:xfrm>
          <a:prstGeom prst="roundRect">
            <a:avLst>
              <a:gd name="adj" fmla="val 14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SLO 达标率下降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21927" y="5138928"/>
            <a:ext cx="0" cy="146304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65392" y="5303520"/>
            <a:ext cx="4913071" cy="457200"/>
          </a:xfrm>
          <a:prstGeom prst="roundRect">
            <a:avLst>
              <a:gd name="adj" fmla="val 14000"/>
            </a:avLst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 下降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742432"/>
            <a:ext cx="10765231" cy="530352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5815584"/>
            <a:ext cx="45720" cy="384047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5742432"/>
            <a:ext cx="1030803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吞吐最高 ≠ Goodput 最高。后面所有的取舍，都是围绕这一句话展开的。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0F5F2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661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由什么决定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为什么用户等了很久才看到第一个字？
真正的时间花在了哪里。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3 · TTFT 成因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是一条完整的链路，任何一环都可能成为瓶颈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2606040" cy="3822191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011680"/>
            <a:ext cx="2130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一个请求经历的环节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2359152"/>
            <a:ext cx="2130552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请求到达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6252" y="2743200"/>
            <a:ext cx="0" cy="109728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50976" y="2852928"/>
            <a:ext cx="2130552" cy="384048"/>
          </a:xfrm>
          <a:prstGeom prst="roundRect">
            <a:avLst>
              <a:gd name="adj" fmla="val 16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排队等待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6252" y="3236976"/>
            <a:ext cx="0" cy="109728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0976" y="3346704"/>
            <a:ext cx="2130552" cy="384048"/>
          </a:xfrm>
          <a:prstGeom prst="roundRect">
            <a:avLst>
              <a:gd name="adj" fmla="val 16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调度选中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6252" y="3730752"/>
            <a:ext cx="0" cy="109728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0976" y="3840480"/>
            <a:ext cx="2130552" cy="384048"/>
          </a:xfrm>
          <a:prstGeom prst="roundRect">
            <a:avLst>
              <a:gd name="adj" fmla="val 16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读取 KV Cache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16252" y="4224528"/>
            <a:ext cx="0" cy="109728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976" y="4334256"/>
            <a:ext cx="2130552" cy="384048"/>
          </a:xfrm>
          <a:prstGeom prst="roundRect">
            <a:avLst>
              <a:gd name="adj" fmla="val 16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 计算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6252" y="4718304"/>
            <a:ext cx="0" cy="109728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976" y="4828032"/>
            <a:ext cx="2130552" cy="384048"/>
          </a:xfrm>
          <a:prstGeom prst="roundRect">
            <a:avLst>
              <a:gd name="adj" fmla="val 16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数据传输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6252" y="5212080"/>
            <a:ext cx="0" cy="109728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0976" y="5321808"/>
            <a:ext cx="2130552" cy="384048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第一个字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1" y="1792224"/>
            <a:ext cx="78848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背后的五类影响因素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93591" y="2103120"/>
            <a:ext cx="2494178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93591" y="2103120"/>
            <a:ext cx="2494178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2322576"/>
            <a:ext cx="20552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请求本身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13048" y="2670048"/>
            <a:ext cx="205526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831335" y="2852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95928" y="2779776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输入长度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31335" y="3108960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5928" y="3035808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前缀是否可复用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31335" y="3364992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95928" y="3291840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命中 / 未命中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31335" y="3621024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95928" y="3547872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模型规模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938" y="2103120"/>
            <a:ext cx="2494178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938" y="2103120"/>
            <a:ext cx="2494178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8394" y="2322576"/>
            <a:ext cx="20552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调度策略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08394" y="2670048"/>
            <a:ext cx="205526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526682" y="2852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1274" y="2779776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队列长度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6682" y="3108960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91274" y="3035808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批次如何组合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26682" y="3364992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1274" y="3291840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FCFS / SJF / EDF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26682" y="3621024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1274" y="3547872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队头阻塞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84284" y="2103120"/>
            <a:ext cx="2494178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84284" y="2103120"/>
            <a:ext cx="2494178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03740" y="2322576"/>
            <a:ext cx="20552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GPU 执行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03740" y="2670048"/>
            <a:ext cx="2055267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9222028" y="2852928"/>
            <a:ext cx="73152" cy="731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86620" y="2779776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吞吐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22028" y="3108960"/>
            <a:ext cx="73152" cy="731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86620" y="3035808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Batch 大小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22028" y="3364992"/>
            <a:ext cx="73152" cy="731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86620" y="3291840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Chunk 大小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22028" y="3621024"/>
            <a:ext cx="73152" cy="731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86620" y="3547872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并行切分与内核效率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93591" y="4096511"/>
            <a:ext cx="2494178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93591" y="4096511"/>
            <a:ext cx="2494178" cy="4572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13048" y="4315968"/>
            <a:ext cx="20552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部署架构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813048" y="4663440"/>
            <a:ext cx="205526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831335" y="4846320"/>
            <a:ext cx="73152" cy="7315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95928" y="4773168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PD 聚合 / 分离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31335" y="5102352"/>
            <a:ext cx="73152" cy="7315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95928" y="5029200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资源配比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31335" y="5358383"/>
            <a:ext cx="73152" cy="7315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95928" y="5285231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实例数量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31335" y="5614416"/>
            <a:ext cx="73152" cy="7315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95928" y="5541264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跨实例传输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88938" y="4096511"/>
            <a:ext cx="2494178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88938" y="4096511"/>
            <a:ext cx="2494178" cy="4572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08394" y="4315968"/>
            <a:ext cx="20552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显存层级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508394" y="4663440"/>
            <a:ext cx="205526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526682" y="4846320"/>
            <a:ext cx="73152" cy="7315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91274" y="4773168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HBM 容量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26682" y="5102352"/>
            <a:ext cx="73152" cy="7315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91274" y="5029200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前缀缓存命中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26682" y="5358383"/>
            <a:ext cx="73152" cy="7315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91274" y="5285231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DRAM / NVMe 卸载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26682" y="5614416"/>
            <a:ext cx="73152" cy="7315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91274" y="5541264"/>
            <a:ext cx="18540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恢复延迟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84284" y="4096511"/>
            <a:ext cx="2494178" cy="1755648"/>
          </a:xfrm>
          <a:prstGeom prst="roundRect">
            <a:avLst>
              <a:gd name="adj" fmla="val 7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03740" y="4370831"/>
            <a:ext cx="205526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 差，
往往不是「算得慢」，
而是「等得久」。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3 · 主因之一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排队：TTFT 最容易被忽视的杀手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队头阻塞（Head-of-Line Blocking）——一个大请求会拖慢它身后的所有人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10765231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201168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先来先服务（FCFS）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" y="2542032"/>
            <a:ext cx="3931920" cy="420624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624327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超长请求（长文档，Prefill 很重）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4" y="2542032"/>
            <a:ext cx="694944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2624" y="2624327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9008" y="2542032"/>
            <a:ext cx="694944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2624327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5392" y="2542032"/>
            <a:ext cx="694944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624327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6" y="2542032"/>
            <a:ext cx="694944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624327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542032"/>
            <a:ext cx="694944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624327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523744"/>
            <a:ext cx="3108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→ 后面 5 个请求即使只要 0.2 秒，
    也得干等前面算完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346704"/>
            <a:ext cx="10765231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" y="3529584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按剩余时间预算排序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" y="4059936"/>
            <a:ext cx="694944" cy="420624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142232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4059936"/>
            <a:ext cx="694944" cy="420624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4142232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23744" y="4059936"/>
            <a:ext cx="694944" cy="420624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3744" y="4142232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7" y="4059936"/>
            <a:ext cx="694944" cy="420624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0127" y="4142232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96511" y="4059936"/>
            <a:ext cx="694944" cy="420624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96511" y="4142232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短请求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82896" y="4059936"/>
            <a:ext cx="3931920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2896" y="41422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超长请求（安排在紧急度更低时）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24544" y="4041648"/>
            <a:ext cx="3108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→ 多数请求 TTFT 显著下降，
    整体达标率提升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88289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负载升高时的连锁反应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193792"/>
            <a:ext cx="1481328" cy="384048"/>
          </a:xfrm>
          <a:prstGeom prst="roundRect">
            <a:avLst>
              <a:gd name="adj" fmla="val 14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请求速率上升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194560" y="5385816"/>
            <a:ext cx="146304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340864" y="5193792"/>
            <a:ext cx="1481328" cy="384048"/>
          </a:xfrm>
          <a:prstGeom prst="roundRect">
            <a:avLst>
              <a:gd name="adj" fmla="val 14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队列变长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22191" y="5385816"/>
            <a:ext cx="146305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968496" y="5193792"/>
            <a:ext cx="1481328" cy="384048"/>
          </a:xfrm>
          <a:prstGeom prst="roundRect">
            <a:avLst>
              <a:gd name="adj" fmla="val 14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TTFT 上升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49824" y="5385816"/>
            <a:ext cx="146304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596128" y="5193792"/>
            <a:ext cx="1481328" cy="384048"/>
          </a:xfrm>
          <a:prstGeom prst="roundRect">
            <a:avLst>
              <a:gd name="adj" fmla="val 14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SLO 违约增加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79792" y="4846320"/>
            <a:ext cx="3998671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4956048"/>
            <a:ext cx="3596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请求在真正开始 GPU 计算之前，就已经消耗掉了大量「可用的延迟预算」。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760720"/>
            <a:ext cx="10765231" cy="530352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232" y="5833872"/>
            <a:ext cx="45720" cy="3840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" y="5760720"/>
            <a:ext cx="1030803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优化不能只盯着 Prefill 内核 —— 排队与调度往往是更大的那一块。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3 · 主因之二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产能不足：排队的根源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这也是 PD 分离部署下 TTFT 恶化的主要原因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5394960" cy="56692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产能  =  每秒能处理的输入 token 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23744"/>
            <a:ext cx="5394960" cy="1371600"/>
          </a:xfrm>
          <a:prstGeom prst="roundRect">
            <a:avLst>
              <a:gd name="adj" fmla="val 7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7066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一旦出现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9923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请求到达速率  &gt;  Prefill 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381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队列就会持续堆积，TTFT 随时间不断恶化（而非稳定）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041648"/>
            <a:ext cx="53949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2245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为什么 PD 分离会踩到这个坑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636008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5537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分离后，Prefill 只能用分给它的那部分 GPU；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928616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46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一旦 Prefill 侧资源给少了，请求就在 Prefill 前排队；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221224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1389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此时 TTFT 变差与「算子快不快」几乎无关。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1828800"/>
            <a:ext cx="5095951" cy="36941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2029968"/>
            <a:ext cx="45473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资源配比 与 TTFT 的关系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322576"/>
            <a:ext cx="45473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不是单调的：先下降，再上升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59752" y="4846320"/>
            <a:ext cx="3815791" cy="0"/>
          </a:xfrm>
          <a:prstGeom prst="line">
            <a:avLst/>
          </a:prstGeom>
          <a:ln w="15875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59752" y="2834639"/>
            <a:ext cx="0" cy="2011681"/>
          </a:xfrm>
          <a:prstGeom prst="line">
            <a:avLst/>
          </a:prstGeom>
          <a:ln w="15875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82512" y="2779775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TTFT
（越低越好）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4956048"/>
            <a:ext cx="38157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分给 Decode 的资源比例  →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36067" y="3035807"/>
            <a:ext cx="534211" cy="643738"/>
          </a:xfrm>
          <a:prstGeom prst="line">
            <a:avLst/>
          </a:prstGeom>
          <a:ln w="2857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70278" y="3679545"/>
            <a:ext cx="686843" cy="523037"/>
          </a:xfrm>
          <a:prstGeom prst="line">
            <a:avLst/>
          </a:prstGeom>
          <a:ln w="2857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57121" y="4202582"/>
            <a:ext cx="610526" cy="201168"/>
          </a:xfrm>
          <a:prstGeom prst="line">
            <a:avLst/>
          </a:prstGeom>
          <a:ln w="2857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067647" y="4041648"/>
            <a:ext cx="610527" cy="362102"/>
          </a:xfrm>
          <a:prstGeom prst="line">
            <a:avLst/>
          </a:prstGeom>
          <a:ln w="2857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678174" y="3357676"/>
            <a:ext cx="610526" cy="683972"/>
          </a:xfrm>
          <a:prstGeom prst="line">
            <a:avLst/>
          </a:prstGeom>
          <a:ln w="2857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288700" y="2874873"/>
            <a:ext cx="572369" cy="482803"/>
          </a:xfrm>
          <a:prstGeom prst="line">
            <a:avLst/>
          </a:prstGeom>
          <a:ln w="2857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999067" y="433517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8967" y="392826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最优配比区间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27939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Prefill 资源不足
→ 排队，TTFT 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1335" y="427939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Decode 资源不足
→ 反压，TTFT 又高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650992"/>
            <a:ext cx="10765231" cy="548640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5724144"/>
            <a:ext cx="45720" cy="402335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650992"/>
            <a:ext cx="103080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资源配比本身就是一个 SLO 控制参数：调它不是「调性能」，而是在 TTFT 与 TPOT 之间做分配。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3 · 主因之三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KV Cache 命中，不一定意味着 TTFT 更低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这是一个非常反直觉、但对我们工作非常关键的结论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4114800" cy="3127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11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前缀 KV 可能存在的位置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377440"/>
            <a:ext cx="3566160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HBM（显存）    </a:t>
            </a: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直接可用，几乎零成本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24712" y="2871216"/>
            <a:ext cx="146304" cy="82296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33856" y="2953512"/>
            <a:ext cx="3419856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DRAM（内存）    </a:t>
            </a: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需要搬运到显存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71016" y="3447288"/>
            <a:ext cx="146303" cy="82296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80160" y="3529584"/>
            <a:ext cx="3273552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NVMe（硬盘）    </a:t>
            </a: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读取 + 多级搬运，很慢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4023360"/>
            <a:ext cx="146304" cy="82296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26464" y="4105656"/>
            <a:ext cx="312724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04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未命中    </a:t>
            </a: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只能重新做一遍 Prefill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66344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越往下：省下的计算越多，但搬运代价越大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1828800"/>
            <a:ext cx="6376111" cy="4572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1956816"/>
            <a:ext cx="14218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KV 所在层级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8292" y="1956816"/>
            <a:ext cx="1310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省下的 Prefill 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4354" y="1956816"/>
            <a:ext cx="10863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额外搬运开销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6693" y="1956816"/>
            <a:ext cx="15337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对 TTFT 的净效果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395728"/>
            <a:ext cx="14218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HBM 命中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8292" y="2395728"/>
            <a:ext cx="1310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全部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4354" y="2395728"/>
            <a:ext cx="10863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几乎没有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6693" y="2395728"/>
            <a:ext cx="15337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大幅下降 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02352" y="2706624"/>
            <a:ext cx="637611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102352" y="2706624"/>
            <a:ext cx="6376111" cy="42062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0368" y="2816352"/>
            <a:ext cx="14218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DRAM 命中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8292" y="2816352"/>
            <a:ext cx="1310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全部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4354" y="2816352"/>
            <a:ext cx="10863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中等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6693" y="2816352"/>
            <a:ext cx="15337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通常下降 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02352" y="3127248"/>
            <a:ext cx="637611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30368" y="3236976"/>
            <a:ext cx="14218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NVMe 命中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8292" y="3236976"/>
            <a:ext cx="1310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全部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4354" y="3236976"/>
            <a:ext cx="10863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较高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6693" y="3236976"/>
            <a:ext cx="15337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可能反而上升 ×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02352" y="3547872"/>
            <a:ext cx="637611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102352" y="3547872"/>
            <a:ext cx="6376111" cy="42062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3657600"/>
            <a:ext cx="14218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未命中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8292" y="3657600"/>
            <a:ext cx="13100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4354" y="3657600"/>
            <a:ext cx="10863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6693" y="3657600"/>
            <a:ext cx="15337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取决于 Prefill 产能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102352" y="3968496"/>
            <a:ext cx="637611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102352" y="1828800"/>
            <a:ext cx="637611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102352" y="4206240"/>
            <a:ext cx="6376111" cy="749808"/>
          </a:xfrm>
          <a:prstGeom prst="roundRect">
            <a:avLst>
              <a:gd name="adj" fmla="val 8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58384" y="4206240"/>
            <a:ext cx="5864047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典型案例：  </a:t>
            </a:r>
            <a:r>
              <a:rPr sz="1200" b="0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64K 长上下文请求，KV 命中在 NVMe 上。虽然省掉了大量 Prefill 计算，但 NVMe → 内存 → 显存的恢复延迟，足以让 TTFT 直接违约。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321808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232" y="5394960"/>
            <a:ext cx="45720" cy="420623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" y="532180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对我们的含义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KV Cache 优化的目标不是把命中率做到最高，而是降低「让请求达标」的总成本——命中也要算上搬运账。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FDF4E3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661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由什么决定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为什么生成过程会一顿一顿？
谁抢走了本该用来出字的时间。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4 · TPOT 成因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由每一次 Decode 步的耗时累积而成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79222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一次 Decode 步做了什么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21408"/>
            <a:ext cx="5120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21408"/>
            <a:ext cx="45720" cy="62179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2128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注意力计算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68879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反复读取 KV Cache → 吃显存带宽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34639"/>
            <a:ext cx="5120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834639"/>
            <a:ext cx="45720" cy="62179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92607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线性层 / MoE 计算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82111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参数读取与矩阵运算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547872"/>
            <a:ext cx="5120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547872"/>
            <a:ext cx="45720" cy="6217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393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跨卡通信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95344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张量并行 / 专家并行的数据交换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261104"/>
            <a:ext cx="5120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261104"/>
            <a:ext cx="45720" cy="62179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35254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调度与批次组装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60857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这一步和谁拼在一个 batch 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73552" y="4974336"/>
            <a:ext cx="0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993391" y="5230368"/>
            <a:ext cx="2560320" cy="457200"/>
          </a:xfrm>
          <a:prstGeom prst="roundRect">
            <a:avLst>
              <a:gd name="adj" fmla="val 14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下一个字输出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1792224"/>
            <a:ext cx="53702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对什么最敏感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8192" y="2121408"/>
            <a:ext cx="5370271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8192" y="2121408"/>
            <a:ext cx="5370271" cy="4572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267712"/>
            <a:ext cx="48947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显存与缓存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64224" y="2651760"/>
            <a:ext cx="73152" cy="7315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2578608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显存带宽（最根本的上限）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4224" y="2898648"/>
            <a:ext cx="73152" cy="7315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6" y="2825496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Cache 容量与访问效率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4224" y="3145536"/>
            <a:ext cx="73152" cy="7315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8816" y="3072384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Decode 批次大小与注意力内核效率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8192" y="3465576"/>
            <a:ext cx="5370271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08192" y="3465576"/>
            <a:ext cx="5370271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3611880"/>
            <a:ext cx="48947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干扰与调度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4224" y="3995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28816" y="3922776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同一张卡上是否同时在跑 Prefill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64224" y="4242816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169664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批次里请求的混合方式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64224" y="4489704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28816" y="4416552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抢占 / 重算带来的抖动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08192" y="4809744"/>
            <a:ext cx="5370271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08192" y="4809744"/>
            <a:ext cx="5370271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4956048"/>
            <a:ext cx="48947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通信（工程扩展维度）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64224" y="5340096"/>
            <a:ext cx="73152" cy="731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28816" y="5266944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张量并行 / 专家并行的通信量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64224" y="5586983"/>
            <a:ext cx="73152" cy="731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5513831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MoE 的 All-to-All 与专家负载均衡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64224" y="5833872"/>
            <a:ext cx="73152" cy="7315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28816" y="5760720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NVLink / PCIe 带宽差异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08192" y="6190488"/>
            <a:ext cx="5370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注：MoE / PCIe 相关结论来自我们自己的工程观测，不属于论文结论。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4 · 主因之一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聚合部署：Prefill 会「插队」打断 Decode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两个阶段抢同一份算力，受伤的通常是 TPOT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10765231" cy="19751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116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同一张 GPU 上的时间片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8716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理想情况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4832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9936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9936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76672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6672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93408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5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1775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0144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0144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2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2432304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4780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281635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每个字之间的间隔均匀 → TPOT 稳定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316382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实际情况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84832" y="3108960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4832" y="3154679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108960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154679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108960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1568" y="3154679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59935" y="3108960"/>
            <a:ext cx="1371600" cy="347472"/>
          </a:xfrm>
          <a:prstGeom prst="rect">
            <a:avLst/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59935" y="3154679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 占用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41264" y="3108960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41264" y="3154679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1" y="3108960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9631" y="3154679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7999" y="3108960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7999" y="3154679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16367" y="3108960"/>
            <a:ext cx="1371600" cy="347472"/>
          </a:xfrm>
          <a:prstGeom prst="rect">
            <a:avLst/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6367" y="3154679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 占用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97696" y="3108960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97696" y="3154679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56064" y="3108960"/>
            <a:ext cx="548640" cy="347472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56064" y="3154679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84832" y="3493008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Prefill 一次要吃掉很长一段算力 → 出字出现空档 → 用户看到「卡顿」，TPOT 被拉高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232" y="3986784"/>
            <a:ext cx="5254599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552" y="4151376"/>
            <a:ext cx="4705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如何量化这种干扰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" y="4480560"/>
            <a:ext cx="4705959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干扰强度  =  Decode 期间插入的 Prefill token 数  ÷  输出长度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" y="5102352"/>
            <a:ext cx="4705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直观理解：写答案的时候被打断了多少次、每次多久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23863" y="3986784"/>
            <a:ext cx="5254599" cy="1426464"/>
          </a:xfrm>
          <a:prstGeom prst="roundRect">
            <a:avLst>
              <a:gd name="adj" fmla="val 7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8183" y="4151376"/>
            <a:ext cx="4705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实验观测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8183" y="4462272"/>
            <a:ext cx="47059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与干扰强度呈很强的线性关系（实验中 R² = 0.99）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8183" y="5102352"/>
            <a:ext cx="4705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意味着 TPOT 是可预测、可控的，而不是随机抖动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3232" y="5596128"/>
            <a:ext cx="10765231" cy="54864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3232" y="5669280"/>
            <a:ext cx="45720" cy="402335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0976" y="5596128"/>
            <a:ext cx="103080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变差常常不是 Decode 本身慢了，而是被 Prefill 抢走了时间片。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4 · 关键旋钮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Chunked Prefill：把长输入切块，块多大是一个权衡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它不是「越大越好」或「越小越好」，而是在 TTFT 与 TPOT 之间移动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4833975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4833975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48256"/>
            <a:ext cx="4285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块切得大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" y="2468880"/>
            <a:ext cx="1463040" cy="329184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2468880"/>
            <a:ext cx="1463040" cy="329184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087" y="2468880"/>
            <a:ext cx="1463040" cy="329184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889504"/>
            <a:ext cx="4285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一次喂给 GPU 很长的输入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7552" y="3200400"/>
            <a:ext cx="4285335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05840" y="3438144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346704"/>
            <a:ext cx="4011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产能更高，排队更少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767328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675888"/>
            <a:ext cx="4011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TTFT 下降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096511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005072"/>
            <a:ext cx="4011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对 Decode 的打断更严重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425696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334256"/>
            <a:ext cx="4011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TPOT 上升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8647" y="3108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反向
权衡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11799" y="2743200"/>
            <a:ext cx="768096" cy="0"/>
          </a:xfrm>
          <a:prstGeom prst="line">
            <a:avLst/>
          </a:prstGeom>
          <a:ln w="19050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711799" y="3840480"/>
            <a:ext cx="768096" cy="0"/>
          </a:xfrm>
          <a:prstGeom prst="line">
            <a:avLst/>
          </a:prstGeom>
          <a:ln w="19050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44487" y="1828800"/>
            <a:ext cx="4833975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44487" y="1828800"/>
            <a:ext cx="4833975" cy="5029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8807" y="2048256"/>
            <a:ext cx="4285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块切得小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18807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94295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9783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45271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0759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96247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71735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47223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22711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198199" y="2468880"/>
            <a:ext cx="365760" cy="329184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18807" y="2889504"/>
            <a:ext cx="4285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分很多次，每次只喂一小段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18807" y="3200400"/>
            <a:ext cx="428533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937095" y="3438144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9975" y="3346704"/>
            <a:ext cx="4011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对 Decode 的打断更小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37095" y="3767328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9975" y="3675888"/>
            <a:ext cx="4011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TPOT 下降 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37095" y="4096511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19975" y="4005072"/>
            <a:ext cx="4011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产能降低，队列变长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37095" y="4425696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19975" y="4334256"/>
            <a:ext cx="4011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TTFT 上升 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5029200"/>
            <a:ext cx="10765231" cy="56692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Chunk 增大  →  TTFT ↓ ，TPOT ↑          Chunk 减小  →  TTFT ↑ ，TPOT 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" y="5760720"/>
            <a:ext cx="10765231" cy="530352"/>
          </a:xfrm>
          <a:prstGeom prst="roundRect">
            <a:avLst>
              <a:gd name="adj" fmla="val 12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232" y="5833872"/>
            <a:ext cx="45720" cy="384047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" y="5760720"/>
            <a:ext cx="1030803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Chunk 大小不是性能参数，而是 SLO 分配参数：把延迟预算从一个指标挪给另一个。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4 · 架构权衡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聚合 与 PD 分离：没有普遍更优，只有更适配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13232" y="1755648"/>
            <a:ext cx="10765231" cy="40233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56231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对比维度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8095" y="1856231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聚合（放在一起）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287" y="1856231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分离（拆开部署）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40279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/ Decode 资源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8095" y="224027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共用同一批 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287" y="224027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各自独立的 GPU 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252374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2523744"/>
            <a:ext cx="10765231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606039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产能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8095" y="260603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高（可借用全部算力）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287" y="260603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受分配比例限制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" y="2889503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2971799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表现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8095" y="297179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通常较低（更好）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287" y="297179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容易因排队而恶化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255263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3232" y="3255263"/>
            <a:ext cx="10765231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337559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两阶段相互干扰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8095" y="333755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存在，且明显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287" y="333755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基本消除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3621023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3703320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表现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8095" y="3703320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容易被 Prefill 拖累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287" y="3703320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通常更稳定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3986783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13232" y="3986783"/>
            <a:ext cx="10765231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069079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资源独立扩缩容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8095" y="406907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较弱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287" y="4069079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较强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" y="435254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1248" y="4434840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KV 跨实例传输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8095" y="4434840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不需要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287" y="4434840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需要，且有成本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" y="471830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13232" y="4718304"/>
            <a:ext cx="10765231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800600"/>
            <a:ext cx="2840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主要风险点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8095" y="4800600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TPOT 违约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287" y="4800600"/>
            <a:ext cx="3578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TTFT 违约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3232" y="508406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3232" y="1755648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13232" y="5175504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在不同 SLO 要求下，实验结论完全反转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449824"/>
            <a:ext cx="346649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5449824"/>
            <a:ext cx="45720" cy="73152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522976"/>
            <a:ext cx="30641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TTFT 要求宽松 + TPOT 要求严格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760720"/>
            <a:ext cx="306415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PD 分离胜出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998464"/>
            <a:ext cx="3064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达标率约 98%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62602" y="5449824"/>
            <a:ext cx="346649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2602" y="5449824"/>
            <a:ext cx="45720" cy="731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63770" y="5522976"/>
            <a:ext cx="30641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TTFT 要求严格 + TPOT 要求宽松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3770" y="5760720"/>
            <a:ext cx="306415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PD 聚合胜出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3770" y="5998464"/>
            <a:ext cx="3064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达标率约 97%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11972" y="5449824"/>
            <a:ext cx="346649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11972" y="5449824"/>
            <a:ext cx="45720" cy="73152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13140" y="5522976"/>
            <a:ext cx="30641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两个指标都要求严格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13140" y="5760720"/>
            <a:ext cx="306415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两者都明显下降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13140" y="5998464"/>
            <a:ext cx="3064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需要更精细的手段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FEBFE"/>
                </a:solidFill>
                <a:latin typeface="Segoe U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661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我们有哪些控制手段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架构、调度、执行、显存、通信
五层旋钮，以及每一层的代价。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总框架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系统上的「旋钮」可以分成五层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这张图也是我们整体优化工作的地图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90672" y="1828800"/>
            <a:ext cx="6010351" cy="658368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目标：在 TTFT / TPOT 约束下，最大化 Goodput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16603" y="2487168"/>
            <a:ext cx="0" cy="25603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2798064"/>
            <a:ext cx="200674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798064"/>
            <a:ext cx="200674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1604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架构层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604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Architecture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3584448"/>
            <a:ext cx="160440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730752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PD 聚合 / 分离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8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: Decode 配比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35424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实例规格与数量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6044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/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06225" y="2487168"/>
            <a:ext cx="0" cy="25603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02854" y="2798064"/>
            <a:ext cx="200674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2854" y="2798064"/>
            <a:ext cx="2006742" cy="4572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4022" y="2999232"/>
            <a:ext cx="1604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4022" y="3291840"/>
            <a:ext cx="1604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Scheduling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4022" y="3584448"/>
            <a:ext cx="160440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104022" y="3730752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队列优先级策略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4022" y="4133088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批次如何组合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4022" y="4535424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抢占与让行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4022" y="4937760"/>
            <a:ext cx="16044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/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5847" y="2487168"/>
            <a:ext cx="0" cy="25603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92476" y="2798064"/>
            <a:ext cx="200674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92476" y="2798064"/>
            <a:ext cx="2006742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93644" y="2999232"/>
            <a:ext cx="1604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3644" y="3291840"/>
            <a:ext cx="1604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Execution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93644" y="3584448"/>
            <a:ext cx="160440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293644" y="3730752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Chunk 大小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93644" y="4133088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Batch 大小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93644" y="4535424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算子 / 内核效率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3644" y="4937760"/>
            <a:ext cx="16044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/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85469" y="2487168"/>
            <a:ext cx="0" cy="25603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282098" y="2798064"/>
            <a:ext cx="200674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82098" y="2798064"/>
            <a:ext cx="2006742" cy="4572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83266" y="2999232"/>
            <a:ext cx="1604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3266" y="3291840"/>
            <a:ext cx="1604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Memory / KV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83266" y="3584448"/>
            <a:ext cx="1604406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483266" y="3730752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前缀缓存复用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83266" y="4133088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放在哪一级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83266" y="4535424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卸载与恢复策略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83266" y="4937760"/>
            <a:ext cx="16044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/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475092" y="2487168"/>
            <a:ext cx="0" cy="25603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471720" y="2798064"/>
            <a:ext cx="200674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71720" y="2798064"/>
            <a:ext cx="2006742" cy="4572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72888" y="2999232"/>
            <a:ext cx="1604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通信层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2888" y="3291840"/>
            <a:ext cx="1604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Communication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672888" y="3584448"/>
            <a:ext cx="1604407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672888" y="3730752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并行切分方式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2888" y="4133088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All-to-All 与负载均衡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72888" y="4535424"/>
            <a:ext cx="1604406" cy="32918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NVLink / PCIe 路径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72888" y="4937760"/>
            <a:ext cx="16044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3232" y="5285232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3232" y="5358384"/>
            <a:ext cx="45720" cy="420623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" y="5285232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这五层不是并列的备选项，而是同一个延迟预算的五个分配入口——动任何一个，都会影响另一个指标。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596188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后续几页分别说明每一层在做什么，以及代价是什么。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第一层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架构层：决定 Prefill 和 Decode 如何共享资源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3454298" cy="3621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3454298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48256"/>
            <a:ext cx="290565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聚合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88336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与 Decode 共用同一批 GPU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7552" y="3255264"/>
            <a:ext cx="290565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87552" y="3383280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换来什么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730752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可借用全部算力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114800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041648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产能高 → TTFT 更容易达标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46227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代价是什么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809744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736592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两阶段互相抢占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193792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120640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TPOT 容易抖动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8698" y="1828800"/>
            <a:ext cx="3454298" cy="3621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8698" y="1828800"/>
            <a:ext cx="3454298" cy="5029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3018" y="2048256"/>
            <a:ext cx="290565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分离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3018" y="2395728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Disaggregation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3018" y="2688336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与 Decode 分池部署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43018" y="3255264"/>
            <a:ext cx="290565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43018" y="3383280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换来什么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1306" y="3730752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4186" y="3657600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彻底隔离干扰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1306" y="4114800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4186" y="4041648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TPOT 稳定，可独立扩缩容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3018" y="446227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代价是什么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1306" y="4809744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4186" y="4736592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产能被配比限制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1306" y="5193792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4186" y="5120640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需要跨实例传输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4164" y="1828800"/>
            <a:ext cx="3454298" cy="3621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4164" y="1828800"/>
            <a:ext cx="3454298" cy="5029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8484" y="2048256"/>
            <a:ext cx="290565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混合 / 动态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8484" y="2395728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Hybrid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8484" y="2688336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不同实例承担不同偏重，再由调度分配请求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98484" y="3255264"/>
            <a:ext cx="290565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98484" y="3383280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换来什么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16772" y="3730752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99652" y="3657600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按请求的紧急程度选择落点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16772" y="4114800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99652" y="4041648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把延迟压力在实例间「搬移」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98484" y="446227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代价是什么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16772" y="4809744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99652" y="4736592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调度复杂度显著上升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6772" y="5193792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9652" y="5120640"/>
            <a:ext cx="26313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需要准确的预测能力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232" y="5632704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232" y="5705856"/>
            <a:ext cx="45720" cy="42062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" y="563270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架构选择要跟着 SLO 走：先明确「哪个指标更不能违约」，再决定部署形态与资源配比。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第二层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调度层：同样的算力，谁先算、和谁一起算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2540431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2540431" cy="45720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29968"/>
            <a:ext cx="2064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FCFS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40864"/>
            <a:ext cx="20649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先来先服务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0976" y="2651760"/>
            <a:ext cx="2064943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2779776"/>
            <a:ext cx="20649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按到达顺序执行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3310128"/>
            <a:ext cx="2064943" cy="603504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83280"/>
            <a:ext cx="1808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实现简单，公平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986784"/>
            <a:ext cx="2064943" cy="640080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059936"/>
            <a:ext cx="180891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队头阻塞：一个大请求拖垮一片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3663" y="265176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831" y="1828800"/>
            <a:ext cx="2540431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4831" y="1828800"/>
            <a:ext cx="2540431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2575" y="2029968"/>
            <a:ext cx="2064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SJF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2575" y="2340864"/>
            <a:ext cx="20649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短作业优先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92575" y="2651760"/>
            <a:ext cx="2064944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92575" y="2779776"/>
            <a:ext cx="20649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优先执行预计更快的请求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92575" y="3310128"/>
            <a:ext cx="2064943" cy="603504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20591" y="3383280"/>
            <a:ext cx="1808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多数请求延迟明显下降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92575" y="3986784"/>
            <a:ext cx="2064943" cy="640080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0591" y="4059936"/>
            <a:ext cx="180891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长上下文请求可能被长期推迟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5263" y="265176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6431" y="1828800"/>
            <a:ext cx="2540431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6431" y="1828800"/>
            <a:ext cx="2540431" cy="4572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4175" y="2029968"/>
            <a:ext cx="2064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EDF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4175" y="2340864"/>
            <a:ext cx="20649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最早截止优先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34175" y="2651760"/>
            <a:ext cx="2064944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34175" y="2779776"/>
            <a:ext cx="20649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按 SLO 截止时间排序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4175" y="3310128"/>
            <a:ext cx="2064943" cy="603504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2191" y="3383280"/>
            <a:ext cx="1808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直接对齐 SLO 目标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34175" y="3986784"/>
            <a:ext cx="2064943" cy="640080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2191" y="4059936"/>
            <a:ext cx="180891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同截止时间下，无法区分执行代价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6863" y="265176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38031" y="1828800"/>
            <a:ext cx="2540431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38031" y="1828800"/>
            <a:ext cx="2540431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5775" y="2029968"/>
            <a:ext cx="2064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Latency Budget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5775" y="2340864"/>
            <a:ext cx="20649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剩余预算优先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75775" y="2651760"/>
            <a:ext cx="2064944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75775" y="2779776"/>
            <a:ext cx="20649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按「还剩多少时间可用」排序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75775" y="3310128"/>
            <a:ext cx="2064943" cy="603504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3791" y="3383280"/>
            <a:ext cx="1808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同时考虑目标与剩余工作量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75775" y="3986784"/>
            <a:ext cx="2064943" cy="640080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03791" y="4059936"/>
            <a:ext cx="180891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依赖对剩余服务时间的预测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4901184"/>
            <a:ext cx="10765231" cy="64008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4901184"/>
            <a:ext cx="1021659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演进方向：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从「谁先到」→「谁更短」→「谁更急」→「谁快没时间了」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5669280"/>
            <a:ext cx="10765231" cy="548640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232" y="5742432"/>
            <a:ext cx="45720" cy="402335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" y="5669280"/>
            <a:ext cx="103080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调度不创造算力，但它决定延迟预算怎么分配——这是提升达标率成本最低的一层。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延迟预算：把「还能等多久」变成可计算的量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它能把排队、KV 搬运、抢占这些看似无关的操作放到同一把尺子上比较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10512"/>
            <a:ext cx="10765231" cy="603504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剩余延迟预算  =  SLO 目标  −  预计还需要的服务时间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96896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举个例子：TTFT 目标 = 5 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26080"/>
            <a:ext cx="6035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1012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预计还需 1 秒  </a:t>
            </a:r>
            <a:r>
              <a:rPr sz="11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剩余 4.0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3145536"/>
            <a:ext cx="2834640" cy="31089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33472" y="3145536"/>
            <a:ext cx="566928" cy="310896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318211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已占用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145536"/>
            <a:ext cx="2267712" cy="310896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351129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←   SLO 目标 5 秒  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127248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预算充裕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950208"/>
            <a:ext cx="6035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05993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334256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预计还需 4.5 秒  </a:t>
            </a:r>
            <a:r>
              <a:rPr sz="11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剩余 0.5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4169664"/>
            <a:ext cx="2834640" cy="31089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33472" y="4169664"/>
            <a:ext cx="2551176" cy="310896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33472" y="4206240"/>
            <a:ext cx="25511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已占用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84648" y="4169664"/>
            <a:ext cx="283464" cy="310896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453542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←   SLO 目标 5 秒  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4151376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4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预算紧张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992624"/>
            <a:ext cx="6035040" cy="768096"/>
          </a:xfrm>
          <a:prstGeom prst="roundRect">
            <a:avLst>
              <a:gd name="adj" fmla="val 8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084064"/>
            <a:ext cx="55778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现在要做一次耗时 300ms 的 KV 搬运：对 A 完全可以接受；对 B 就可能直接导致违约。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596896"/>
            <a:ext cx="44558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谁在消耗这份预算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22592" y="2926080"/>
            <a:ext cx="4455871" cy="530352"/>
          </a:xfrm>
          <a:prstGeom prst="roundRect">
            <a:avLst>
              <a:gd name="adj" fmla="val 12000"/>
            </a:avLst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请求的剩余延迟预算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19517" y="3456432"/>
            <a:ext cx="0" cy="18288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22592" y="3694176"/>
            <a:ext cx="139385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排队等待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50527" y="3456432"/>
            <a:ext cx="0" cy="18288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553602" y="3694176"/>
            <a:ext cx="139385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KV 搬运 / 恢复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81538" y="3456432"/>
            <a:ext cx="0" cy="18288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84612" y="3694176"/>
            <a:ext cx="139385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04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被抢占与重算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19517" y="4261104"/>
            <a:ext cx="1531010" cy="219456"/>
          </a:xfrm>
          <a:prstGeom prst="line">
            <a:avLst/>
          </a:prstGeom>
          <a:ln w="1270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50527" y="4261104"/>
            <a:ext cx="0" cy="219456"/>
          </a:xfrm>
          <a:prstGeom prst="line">
            <a:avLst/>
          </a:prstGeom>
          <a:ln w="1270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250527" y="4261104"/>
            <a:ext cx="1531011" cy="219456"/>
          </a:xfrm>
          <a:prstGeom prst="line">
            <a:avLst/>
          </a:prstGeom>
          <a:ln w="1270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22592" y="4535424"/>
            <a:ext cx="4455871" cy="530352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预算耗尽 → SLO 违约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50527" y="5065776"/>
            <a:ext cx="0" cy="18288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022592" y="5303520"/>
            <a:ext cx="4455871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 下降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5852160"/>
            <a:ext cx="10765231" cy="457200"/>
          </a:xfrm>
          <a:prstGeom prst="roundRect">
            <a:avLst>
              <a:gd name="adj" fmla="val 12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5925312"/>
            <a:ext cx="45720" cy="310896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852160"/>
            <a:ext cx="1030803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同一个系统动作，对不同请求的价值完全不同——这是从「优化平均」走向「优化达标」的关键转变。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第四层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显存与 KV 层：省计算，但别把时间省到搬运上去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345429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3454298" cy="4572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066543"/>
            <a:ext cx="310896" cy="310896"/>
          </a:xfrm>
          <a:prstGeom prst="ellipse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03120"/>
            <a:ext cx="2539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命中与复用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7552" y="2542032"/>
            <a:ext cx="290565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05840" y="2779776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88336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前缀缓存（多轮对话 / 系统提示）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163824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072384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相同前缀的请求共享 KV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547872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456432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命中率是手段，不是目的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8698" y="1828800"/>
            <a:ext cx="345429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8698" y="1828800"/>
            <a:ext cx="3454298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3018" y="2066543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3642" y="2103120"/>
            <a:ext cx="2539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放在哪一级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43018" y="2542032"/>
            <a:ext cx="290565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661306" y="2779776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4186" y="2688336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HBM：最快，但容量最贵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1306" y="3163824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4186" y="3072384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DRAM：容量大，搬运可接受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1306" y="3547872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4186" y="3456432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NVMe：容量最大，恢复最慢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4164" y="1828800"/>
            <a:ext cx="345429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4164" y="1828800"/>
            <a:ext cx="3454298" cy="4572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98484" y="2066543"/>
            <a:ext cx="310896" cy="310896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9108" y="2103120"/>
            <a:ext cx="2539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怎么搬过来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98484" y="2542032"/>
            <a:ext cx="290565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316772" y="2779776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9652" y="2688336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搬运路径与带宽（NVLink / PCIe）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6772" y="3163824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9652" y="3072384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是否能与计算重叠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16772" y="3547872"/>
            <a:ext cx="91440" cy="914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9652" y="3456432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什么时候「重算」比「搬运」更划算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114800"/>
            <a:ext cx="10765231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4297680"/>
            <a:ext cx="10143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一个容易走偏的优化目标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" y="4626864"/>
            <a:ext cx="4742535" cy="694944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0432" y="4700016"/>
            <a:ext cx="44499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× 只看：缓存命中率提升了多少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58103" y="4974336"/>
            <a:ext cx="457200" cy="0"/>
          </a:xfrm>
          <a:prstGeom prst="line">
            <a:avLst/>
          </a:prstGeom>
          <a:ln w="19050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425031" y="4626864"/>
            <a:ext cx="4742535" cy="694944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71335" y="4700016"/>
            <a:ext cx="44499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√ 要看：达标请求数是否真的增加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632704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705856"/>
            <a:ext cx="45720" cy="420623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63270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命中率 ≠ 更低的 TTFT。KV 优化要连搬运代价一起算，必要时「重算」才是更优解。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第三 / 第五层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执行与通信层：底层优化最终也要翻译成 SLO 语言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828800"/>
            <a:ext cx="3454298" cy="24323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3454298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48256"/>
            <a:ext cx="290565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3957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主要影响 TTFT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7552" y="2834640"/>
            <a:ext cx="290565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05840" y="3072384"/>
            <a:ext cx="914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80944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矩阵运算效率（GEMM）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364991"/>
            <a:ext cx="914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73551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FlashAttention 等注意力实现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657600"/>
            <a:ext cx="914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566160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Chunk 大小 / Batch 大小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950207"/>
            <a:ext cx="91440" cy="914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858768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张量并行切分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8698" y="1828800"/>
            <a:ext cx="3454298" cy="24323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1828800"/>
            <a:ext cx="3454298" cy="4572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048256"/>
            <a:ext cx="290565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Decode 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3018" y="23957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主要影响 TPOT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43018" y="2834640"/>
            <a:ext cx="290565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61306" y="3072384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4186" y="2980944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显存带宽利用率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1306" y="3364991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4186" y="3273551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Cache 访问模式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1306" y="3657600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4186" y="3566160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注意力内核效率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1306" y="3950207"/>
            <a:ext cx="91440" cy="914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4186" y="3858768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批次调度与组合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4164" y="1828800"/>
            <a:ext cx="3454298" cy="24323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24164" y="1828800"/>
            <a:ext cx="3454298" cy="4572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8484" y="2048256"/>
            <a:ext cx="290565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MoE 与通信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98484" y="23957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4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主要影响 TPOT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98484" y="2834640"/>
            <a:ext cx="290565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316772" y="3072384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9652" y="2980944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专家并行（EP）与 All-to-All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6772" y="3364991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9652" y="3273551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token 分发与专家负载均衡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16772" y="3657600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99652" y="3566160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NCCL 通信效率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6772" y="3950207"/>
            <a:ext cx="91440" cy="91440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99652" y="3858768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NVLink / PCIe 带宽差异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443984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以通信为例：底层指标是如何传导到业务结果的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4773168"/>
            <a:ext cx="1948220" cy="512064"/>
          </a:xfrm>
          <a:prstGeom prst="roundRect">
            <a:avLst>
              <a:gd name="adj" fmla="val 14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跨卡通信变慢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688884" y="5029200"/>
            <a:ext cx="201168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917484" y="4773168"/>
            <a:ext cx="1948220" cy="512064"/>
          </a:xfrm>
          <a:prstGeom prst="roundRect">
            <a:avLst>
              <a:gd name="adj" fmla="val 14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单步 Decode 时间变长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893137" y="5029200"/>
            <a:ext cx="201168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121737" y="4773168"/>
            <a:ext cx="1948220" cy="512064"/>
          </a:xfrm>
          <a:prstGeom prst="roundRect">
            <a:avLst>
              <a:gd name="adj" fmla="val 14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TPOT 上升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097389" y="5029200"/>
            <a:ext cx="201168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25989" y="4773168"/>
            <a:ext cx="1948220" cy="512064"/>
          </a:xfrm>
          <a:prstGeom prst="roundRect">
            <a:avLst>
              <a:gd name="adj" fmla="val 14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SLO 达标率下降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301642" y="5029200"/>
            <a:ext cx="201168" cy="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530242" y="4773168"/>
            <a:ext cx="1948220" cy="512064"/>
          </a:xfrm>
          <a:prstGeom prst="roundRect">
            <a:avLst>
              <a:gd name="adj" fmla="val 14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 下降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504688"/>
            <a:ext cx="10765231" cy="566928"/>
          </a:xfrm>
          <a:prstGeom prst="roundRect">
            <a:avLst>
              <a:gd name="adj" fmla="val 12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3232" y="5577840"/>
            <a:ext cx="45720" cy="420623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" y="550468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4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任何底层优化，都要能回答一句话：它把哪个指标的延迟预算省下来了？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614476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注：MoE / PCIe 相关内容属于我们的工程扩展维度，不是论文已验证的结论。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8EFFD"/>
                </a:solidFill>
                <a:latin typeface="Segoe U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661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从单点优化到系统级优化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把所有工作收敛到一个目标上：
在 SLO 约束下最大化 Goodput。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6 · 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一张图看懂：从负载特征到最终产能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84832" y="1773936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业务负载（输入有多长、输出有多长）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359152" y="2231136"/>
            <a:ext cx="685800" cy="16459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39512" y="2231136"/>
            <a:ext cx="685800" cy="16459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2450592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 阶段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59152" y="2962656"/>
            <a:ext cx="0" cy="16459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79392" y="2450592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Decode 阶段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25312" y="2962656"/>
            <a:ext cx="0" cy="16459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" y="3127248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59152" y="3639312"/>
            <a:ext cx="0" cy="16459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79392" y="3127248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25312" y="3639312"/>
            <a:ext cx="0" cy="16459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380390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排队 · KV 读取 · 计算 · 传输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380390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带宽 · 干扰 · 通信 · 调度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59152" y="4059936"/>
            <a:ext cx="685800" cy="16459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239512" y="4059936"/>
            <a:ext cx="685800" cy="164592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10512" y="4279392"/>
            <a:ext cx="4663440" cy="512064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 达标率（两个指标都满足的比例）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42232" y="4791456"/>
            <a:ext cx="0" cy="164592"/>
          </a:xfrm>
          <a:prstGeom prst="line">
            <a:avLst/>
          </a:prstGeom>
          <a:ln w="19050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359152" y="5010912"/>
            <a:ext cx="3566160" cy="658368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742432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= 达标前提下的真实产能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1773936"/>
            <a:ext cx="3541471" cy="4133087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3" y="1956816"/>
            <a:ext cx="30294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我们能动的五层旋钮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3" y="2286000"/>
            <a:ext cx="3029407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3" y="2286000"/>
            <a:ext cx="4572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2340864"/>
            <a:ext cx="2718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架构层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587752"/>
            <a:ext cx="2718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PD 形态与资源配比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3" y="2926080"/>
            <a:ext cx="3029407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3023" y="2926080"/>
            <a:ext cx="45720" cy="56692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980944"/>
            <a:ext cx="2718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3227832"/>
            <a:ext cx="2718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优先级 · 批次 · 抢占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93023" y="3566160"/>
            <a:ext cx="3029407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93023" y="3566160"/>
            <a:ext cx="45720" cy="56692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3621024"/>
            <a:ext cx="2718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3867912"/>
            <a:ext cx="2718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Chunk · Batch · 内核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23" y="4206240"/>
            <a:ext cx="3029407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93023" y="4206240"/>
            <a:ext cx="45720" cy="56692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5904" y="4261104"/>
            <a:ext cx="2718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507992"/>
            <a:ext cx="2718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前缀缓存 · KV 放置与卸载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93023" y="4846320"/>
            <a:ext cx="3029407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93023" y="4846320"/>
            <a:ext cx="45720" cy="566928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75904" y="4901184"/>
            <a:ext cx="2718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通信层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5148072"/>
            <a:ext cx="2718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并行方式 · NVLink / PCIe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7680959" y="3840480"/>
            <a:ext cx="347472" cy="0"/>
          </a:xfrm>
          <a:prstGeom prst="line">
            <a:avLst/>
          </a:prstGeom>
          <a:ln w="15875">
            <a:solidFill>
              <a:srgbClr val="AEB6C4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193023" y="5522976"/>
            <a:ext cx="30294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每一次调整，都是在两个指标之间重新分配预算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4114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6 · 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我们已有的工作，在这张地图上的位置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同一个框架下，这些工作不再是零散的优化点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700784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13232" y="1828800"/>
            <a:ext cx="10765231" cy="4572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56816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我们的工作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4246" y="1956816"/>
            <a:ext cx="11657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属于哪一层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6069" y="1956816"/>
            <a:ext cx="21813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主要改善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480" y="1956816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需要同时盯住的风险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23160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分离 / 资源配比调整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4246" y="2423160"/>
            <a:ext cx="11657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架构层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6069" y="2423160"/>
            <a:ext cx="21813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TPOT 稳定性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480" y="2423160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产能不足导致 TTFT 恶化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2761488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3232" y="2761488"/>
            <a:ext cx="10765231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898648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Chunked Prefill 调优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4246" y="2898648"/>
            <a:ext cx="11657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6069" y="2898648"/>
            <a:ext cx="21813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TTFT 与 TPOT 的平衡点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80" y="2898648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块太小会牺牲 Prefill 产能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236976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374136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KV Cache 分析与卸载（LMCache）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4246" y="3374136"/>
            <a:ext cx="11657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显存层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6069" y="3374136"/>
            <a:ext cx="21813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长上下文的 Prefill 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3480" y="3374136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深层恢复延迟反而拖高 TTFT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371246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13232" y="3712464"/>
            <a:ext cx="10765231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849624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调度与批次策略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4246" y="3849624"/>
            <a:ext cx="11657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调度层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6069" y="3849624"/>
            <a:ext cx="21813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整体达标率、长尾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3480" y="3849624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长请求被饿死、公平性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4187952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1248" y="4325112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 / EP 与 MoE 通信优化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4246" y="4325112"/>
            <a:ext cx="11657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通信层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069" y="4325112"/>
            <a:ext cx="21813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单步 Decode 时间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3480" y="4325112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通信与负载不均带来的抖动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4663440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13232" y="4663440"/>
            <a:ext cx="10765231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800600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GPU 利用率提升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4246" y="4800600"/>
            <a:ext cx="11657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6069" y="4800600"/>
            <a:ext cx="21813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吞吐与成本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3480" y="4800600"/>
            <a:ext cx="3196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利用率拉满可能反而降低 Goodput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5138927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3232" y="1828800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13232" y="5431536"/>
            <a:ext cx="10765231" cy="65836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431536"/>
            <a:ext cx="102165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建议的汇报口径  ｜  </a:t>
            </a:r>
            <a:r>
              <a:rPr sz="13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不说「我们把某个内核优化了 X%」，而说「在同样的 SLO 下，这套系统能多承载 Y% 的请求」。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00584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76523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推理系统优化的最终目标，
不是让某一个内核更快，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15184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而是在给定的 TTFT / TPOT 要求下，让系统承载更多请求。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66160"/>
            <a:ext cx="10765231" cy="9144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最大化  Goodput      约束条件：TTFT ≤ 目标值    且    TPOT ≤ 目标值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754880"/>
            <a:ext cx="3454298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754880"/>
            <a:ext cx="45720" cy="10241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901184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统一语言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5212080"/>
            <a:ext cx="297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用 TTFT / TPOT / 达标率 / Goodput 对话，而不是各说各的指标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4754880"/>
            <a:ext cx="3454298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698" y="4754880"/>
            <a:ext cx="45720" cy="102412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6442" y="4901184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统一判据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5212080"/>
            <a:ext cx="297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任何优化都要回答：它让达标请求变多了吗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4164" y="4754880"/>
            <a:ext cx="3454298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4164" y="4754880"/>
            <a:ext cx="45720" cy="102412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1908" y="4901184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统一地图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5212080"/>
            <a:ext cx="297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五层旋钮，动一处就要看另一处的代价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98464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谢谢  ·  欢迎讨论与指正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