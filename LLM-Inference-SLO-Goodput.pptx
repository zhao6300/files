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73568" y="0"/>
            <a:ext cx="4215384" cy="6858000"/>
          </a:xfrm>
          <a:prstGeom prst="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0"/>
            <a:ext cx="2816352" cy="6858000"/>
          </a:xfrm>
          <a:prstGeom prst="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94192" y="932688"/>
            <a:ext cx="1993392" cy="19933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2304288"/>
            <a:ext cx="2560320" cy="2560320"/>
          </a:xfrm>
          <a:prstGeom prst="ellipse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88352" y="4251960"/>
            <a:ext cx="1874519" cy="1874519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60736" y="4818888"/>
            <a:ext cx="1078992" cy="1078992"/>
          </a:xfrm>
          <a:prstGeom prst="ellipse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516368" y="1051560"/>
            <a:ext cx="3145536" cy="4206240"/>
          </a:xfrm>
          <a:prstGeom prst="line">
            <a:avLst/>
          </a:prstGeom>
          <a:ln w="13970">
            <a:solidFill>
              <a:srgbClr val="1932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223760" y="1453896"/>
            <a:ext cx="3630168" cy="3520440"/>
          </a:xfrm>
          <a:prstGeom prst="line">
            <a:avLst/>
          </a:prstGeom>
          <a:ln w="13970">
            <a:solidFill>
              <a:srgbClr val="20A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658368"/>
            <a:ext cx="1143000" cy="283464"/>
          </a:xfrm>
          <a:prstGeom prst="round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83971"/>
            <a:ext cx="114300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087A68"/>
                </a:solidFill>
                <a:latin typeface="Noto Sans CJK SC"/>
              </a:rPr>
              <a:t>内部技术分享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307592"/>
            <a:ext cx="6492240" cy="6035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 i="0">
                <a:solidFill>
                  <a:srgbClr val="19324A"/>
                </a:solidFill>
                <a:latin typeface="Noto Sans CJK SC"/>
              </a:rPr>
              <a:t>Inference SLO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993392"/>
            <a:ext cx="6583680" cy="1207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19324A"/>
                </a:solidFill>
                <a:latin typeface="Noto Sans CJK SC"/>
              </a:rPr>
              <a:t>从延迟指标到
Goodput 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465576"/>
            <a:ext cx="6172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708297"/>
                </a:solidFill>
                <a:latin typeface="Noto Sans CJK SC"/>
              </a:rPr>
              <a:t>用用户体验语言，建立对推理系统优化工作的共同理解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78224"/>
            <a:ext cx="5961888" cy="18288"/>
          </a:xfrm>
          <a:prstGeom prst="rect">
            <a:avLst/>
          </a:prstGeom>
          <a:solidFill>
            <a:srgbClr val="D9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315968"/>
            <a:ext cx="61264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87A68"/>
                </a:solidFill>
                <a:latin typeface="Noto Sans CJK SC"/>
              </a:rPr>
              <a:t>TTFT  ·  TPOT  ·  队列  ·  KV Cache  ·  调度  ·  PD 架构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6016752"/>
            <a:ext cx="594360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708297"/>
                </a:solidFill>
                <a:latin typeface="Noto Sans CJK SC"/>
              </a:rPr>
              <a:t>面向：希望理解优化“为什么做、影响什么、如何取舍”的团队成员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阅读路径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先建立同一张“推理体验地图”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不从术语出发，而从用户能感受到的等待与流畅出发。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12848"/>
            <a:ext cx="1938528" cy="2395728"/>
          </a:xfrm>
          <a:prstGeom prst="round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45059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87A68"/>
                </a:solidFill>
                <a:latin typeface="Noto Sans CJK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907792"/>
            <a:ext cx="1609344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24A"/>
                </a:solidFill>
                <a:latin typeface="Noto Sans CJK SC"/>
              </a:rPr>
              <a:t>为什么需要 SLO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712463"/>
            <a:ext cx="15544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27445F"/>
                </a:solidFill>
                <a:latin typeface="Noto Sans CJK SC"/>
              </a:rPr>
              <a:t>从“机器跑得快”到“用户体验可承诺”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70048" y="3401568"/>
            <a:ext cx="228600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2779776" y="3337560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71800" y="2212848"/>
            <a:ext cx="1938528" cy="2395728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2" y="245059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78C7"/>
                </a:solidFill>
                <a:latin typeface="Noto Sans CJK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2907792"/>
            <a:ext cx="1609344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24A"/>
                </a:solidFill>
                <a:latin typeface="Noto Sans CJK SC"/>
              </a:rPr>
              <a:t>TTFT 与 TPOT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3712463"/>
            <a:ext cx="15544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27445F"/>
                </a:solidFill>
                <a:latin typeface="Noto Sans CJK SC"/>
              </a:rPr>
              <a:t>一次回答的两个关键体验时刻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56048" y="3401568"/>
            <a:ext cx="228600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evron 17"/>
          <p:cNvSpPr/>
          <p:nvPr/>
        </p:nvSpPr>
        <p:spPr>
          <a:xfrm>
            <a:off x="5065776" y="3337560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57800" y="2212848"/>
            <a:ext cx="1938528" cy="2395728"/>
          </a:xfrm>
          <a:prstGeom prst="roundRect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22392" y="245059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955"/>
                </a:solidFill>
                <a:latin typeface="Noto Sans CJK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392" y="2907792"/>
            <a:ext cx="1609344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24A"/>
                </a:solidFill>
                <a:latin typeface="Noto Sans CJK SC"/>
              </a:rPr>
              <a:t>延迟从哪里来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2392" y="3712463"/>
            <a:ext cx="15544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27445F"/>
                </a:solidFill>
                <a:latin typeface="Noto Sans CJK SC"/>
              </a:rPr>
              <a:t>队列、计算、KV、通信与干扰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42048" y="3401568"/>
            <a:ext cx="228600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7351775" y="3337560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43800" y="2212848"/>
            <a:ext cx="1938528" cy="2395728"/>
          </a:xfrm>
          <a:prstGeom prst="roundRect">
            <a:avLst/>
          </a:prstGeom>
          <a:solidFill>
            <a:srgbClr val="EF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08392" y="245059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257B8"/>
                </a:solidFill>
                <a:latin typeface="Noto Sans CJK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392" y="2907792"/>
            <a:ext cx="1609344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24A"/>
                </a:solidFill>
                <a:latin typeface="Noto Sans CJK SC"/>
              </a:rPr>
              <a:t>系统如何控制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8392" y="3712463"/>
            <a:ext cx="15544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27445F"/>
                </a:solidFill>
                <a:latin typeface="Noto Sans CJK SC"/>
              </a:rPr>
              <a:t>架构、调度、执行、内存、网络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528048" y="3401568"/>
            <a:ext cx="228600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hevron 29"/>
          <p:cNvSpPr/>
          <p:nvPr/>
        </p:nvSpPr>
        <p:spPr>
          <a:xfrm>
            <a:off x="9637776" y="3337560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29800" y="2212848"/>
            <a:ext cx="1938528" cy="2395728"/>
          </a:xfrm>
          <a:prstGeom prst="round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94392" y="2450592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59B22"/>
                </a:solidFill>
                <a:latin typeface="Noto Sans CJK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4392" y="2907792"/>
            <a:ext cx="1609344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24A"/>
                </a:solidFill>
                <a:latin typeface="Noto Sans CJK SC"/>
              </a:rPr>
              <a:t>最终优化目标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4392" y="3712463"/>
            <a:ext cx="15544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27445F"/>
                </a:solidFill>
                <a:latin typeface="Noto Sans CJK SC"/>
              </a:rPr>
              <a:t>在约束下最大化 Goodput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5230368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9324A"/>
                </a:solidFill>
                <a:latin typeface="Noto Sans CJK SC"/>
              </a:rPr>
              <a:t>这份分享的结论：所有底层优化，最终都应回到 TTFT / TPOT 以及 Goodput。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01 / WHY SLO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真正要优化的，不只是“跑得更快”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在线服务的成功标准，是体验达标前提下能够稳定服务多少用户。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93392"/>
            <a:ext cx="5239512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304288"/>
            <a:ext cx="228600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08297"/>
                </a:solidFill>
                <a:latin typeface="Noto Sans CJK SC"/>
              </a:rPr>
              <a:t>传统性能视角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816352"/>
            <a:ext cx="12344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7445F"/>
                </a:solidFill>
                <a:latin typeface="Noto Sans CJK SC"/>
              </a:rPr>
              <a:t>Tokens/s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2834640"/>
            <a:ext cx="2560320" cy="201168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50008" y="2834640"/>
            <a:ext cx="2150668" cy="201168"/>
          </a:xfrm>
          <a:prstGeom prst="round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278892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08297"/>
                </a:solidFill>
                <a:latin typeface="Noto Sans CJK SC"/>
              </a:rPr>
              <a:t>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456432"/>
            <a:ext cx="12344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7445F"/>
                </a:solidFill>
                <a:latin typeface="Noto Sans CJK SC"/>
              </a:rPr>
              <a:t>GPU 利用率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50008" y="3474720"/>
            <a:ext cx="2560320" cy="201168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50008" y="3474720"/>
            <a:ext cx="1741017" cy="201168"/>
          </a:xfrm>
          <a:prstGeom prst="round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342900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08297"/>
                </a:solidFill>
                <a:latin typeface="Noto Sans CJK SC"/>
              </a:rPr>
              <a:t>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096512"/>
            <a:ext cx="12344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7445F"/>
                </a:solidFill>
                <a:latin typeface="Noto Sans CJK SC"/>
              </a:rPr>
              <a:t>平均延迟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4114800"/>
            <a:ext cx="2560320" cy="201168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50008" y="4114800"/>
            <a:ext cx="1408176" cy="201168"/>
          </a:xfrm>
          <a:prstGeom prst="roundRect">
            <a:avLst/>
          </a:prstGeom>
          <a:solidFill>
            <a:srgbClr val="ED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4069080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708297"/>
                </a:solidFill>
                <a:latin typeface="Noto Sans CJK SC"/>
              </a:rPr>
              <a:t>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937760"/>
            <a:ext cx="4407408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8297"/>
                </a:solidFill>
                <a:latin typeface="Noto Sans CJK SC"/>
              </a:rPr>
              <a:t>这些指标很重要，但它们不直接回答：
用户是否感觉“及时、连续、不卡顿”？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993392"/>
            <a:ext cx="5285232" cy="3611880"/>
          </a:xfrm>
          <a:prstGeom prst="roundRect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304288"/>
            <a:ext cx="228600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DF4ED"/>
                </a:solidFill>
                <a:latin typeface="Noto Sans CJK SC"/>
              </a:rPr>
              <a:t>SLO 视角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2798064"/>
            <a:ext cx="4434840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Noto Sans CJK SC"/>
              </a:rPr>
              <a:t>在体验约束下
持续服务更多请求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47104" y="3822191"/>
            <a:ext cx="4471416" cy="0"/>
          </a:xfrm>
          <a:prstGeom prst="line">
            <a:avLst/>
          </a:prstGeom>
          <a:ln w="15240">
            <a:solidFill>
              <a:srgbClr val="20A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565392" y="4133088"/>
            <a:ext cx="91440" cy="91440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4096512"/>
            <a:ext cx="78638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1" i="0">
                <a:solidFill>
                  <a:srgbClr val="FFFFFF"/>
                </a:solidFill>
                <a:latin typeface="Noto Sans CJK SC"/>
              </a:rPr>
              <a:t>TTFT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3" y="4096512"/>
            <a:ext cx="31546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 i="0">
                <a:solidFill>
                  <a:srgbClr val="D2DFE5"/>
                </a:solidFill>
                <a:latin typeface="Noto Sans CJK SC"/>
              </a:rPr>
              <a:t>第一次看到回答的等待</a:t>
            </a:r>
          </a:p>
        </p:txBody>
      </p:sp>
      <p:sp>
        <p:nvSpPr>
          <p:cNvPr id="29" name="Oval 28"/>
          <p:cNvSpPr/>
          <p:nvPr/>
        </p:nvSpPr>
        <p:spPr>
          <a:xfrm>
            <a:off x="6565392" y="4544568"/>
            <a:ext cx="91440" cy="91440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93992" y="4507992"/>
            <a:ext cx="78638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1" i="0">
                <a:solidFill>
                  <a:srgbClr val="FFFFFF"/>
                </a:solidFill>
                <a:latin typeface="Noto Sans CJK SC"/>
              </a:rPr>
              <a:t>TPOT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44383" y="4507992"/>
            <a:ext cx="31546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 i="0">
                <a:solidFill>
                  <a:srgbClr val="D2DFE5"/>
                </a:solidFill>
                <a:latin typeface="Noto Sans CJK SC"/>
              </a:rPr>
              <a:t>后续内容出现的节奏</a:t>
            </a:r>
          </a:p>
        </p:txBody>
      </p:sp>
      <p:sp>
        <p:nvSpPr>
          <p:cNvPr id="32" name="Oval 31"/>
          <p:cNvSpPr/>
          <p:nvPr/>
        </p:nvSpPr>
        <p:spPr>
          <a:xfrm>
            <a:off x="6565392" y="4956048"/>
            <a:ext cx="91440" cy="91440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3992" y="4919472"/>
            <a:ext cx="78638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1" i="0">
                <a:solidFill>
                  <a:srgbClr val="FFFFFF"/>
                </a:solidFill>
                <a:latin typeface="Noto Sans CJK SC"/>
              </a:rPr>
              <a:t>Goodput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4383" y="4919472"/>
            <a:ext cx="31546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30" b="0" i="0">
                <a:solidFill>
                  <a:srgbClr val="D2DFE5"/>
                </a:solidFill>
                <a:latin typeface="Noto Sans CJK SC"/>
              </a:rPr>
              <a:t>两者都达标的实际服务量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916168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87A68"/>
                </a:solidFill>
                <a:latin typeface="Noto Sans CJK SC"/>
              </a:rPr>
              <a:t>从 Performance → SLO Attainment → Goodput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01 / WHY SLO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SLA、SLO、SLI：三个词，一条闭环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把承诺、目标和实际测量分开，才能让性能讨论可执行。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148840"/>
            <a:ext cx="3264408" cy="3218688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9264" y="2432304"/>
            <a:ext cx="576072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457907"/>
            <a:ext cx="57607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3478C7"/>
                </a:solidFill>
                <a:latin typeface="Noto Sans CJK SC"/>
              </a:rPr>
              <a:t>SLA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907792"/>
            <a:ext cx="25603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9324A"/>
                </a:solidFill>
                <a:latin typeface="Noto Sans CJK SC"/>
              </a:rPr>
              <a:t>对外承诺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520440"/>
            <a:ext cx="26974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7445F"/>
                </a:solidFill>
                <a:latin typeface="Noto Sans CJK SC"/>
              </a:rPr>
              <a:t>服务在什么范围内应达到怎样的体验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" y="4334256"/>
            <a:ext cx="2825496" cy="18288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4553712"/>
            <a:ext cx="2697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08297"/>
                </a:solidFill>
                <a:latin typeface="Noto Sans CJK SC"/>
              </a:rPr>
              <a:t>纸面上的服务等级协议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50791" y="3749039"/>
            <a:ext cx="310897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evron 14"/>
          <p:cNvSpPr/>
          <p:nvPr/>
        </p:nvSpPr>
        <p:spPr>
          <a:xfrm>
            <a:off x="4242816" y="3685031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62856" y="2148840"/>
            <a:ext cx="3264408" cy="3218688"/>
          </a:xfrm>
          <a:prstGeom prst="round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82312" y="2432304"/>
            <a:ext cx="576072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2457907"/>
            <a:ext cx="57607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087A68"/>
                </a:solidFill>
                <a:latin typeface="Noto Sans CJK SC"/>
              </a:rPr>
              <a:t>SLO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2907792"/>
            <a:ext cx="25603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9324A"/>
                </a:solidFill>
                <a:latin typeface="Noto Sans CJK SC"/>
              </a:rPr>
              <a:t>内部目标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3520440"/>
            <a:ext cx="26974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7445F"/>
                </a:solidFill>
                <a:latin typeface="Noto Sans CJK SC"/>
              </a:rPr>
              <a:t>我们为用户体验设置的可衡量阈值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82312" y="4334256"/>
            <a:ext cx="2825496" cy="18288"/>
          </a:xfrm>
          <a:prstGeom prst="rect">
            <a:avLst/>
          </a:prstGeom>
          <a:solidFill>
            <a:srgbClr val="08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4553712"/>
            <a:ext cx="2697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08297"/>
                </a:solidFill>
                <a:latin typeface="Noto Sans CJK SC"/>
              </a:rPr>
              <a:t>例如：TTFT、TPOT 的目标线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63840" y="3749039"/>
            <a:ext cx="310896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8055864" y="3685031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75904" y="2148840"/>
            <a:ext cx="3264408" cy="3218688"/>
          </a:xfrm>
          <a:prstGeom prst="roundRect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95360" y="2432304"/>
            <a:ext cx="576072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2457907"/>
            <a:ext cx="57607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ED7955"/>
                </a:solidFill>
                <a:latin typeface="Noto Sans CJK SC"/>
              </a:rPr>
              <a:t>SLI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907792"/>
            <a:ext cx="25603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9324A"/>
                </a:solidFill>
                <a:latin typeface="Noto Sans CJK SC"/>
              </a:rPr>
              <a:t>实际指标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520440"/>
            <a:ext cx="26974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7445F"/>
                </a:solidFill>
                <a:latin typeface="Noto Sans CJK SC"/>
              </a:rPr>
              <a:t>系统真实运行时采集到的表现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4334256"/>
            <a:ext cx="2825496" cy="18288"/>
          </a:xfrm>
          <a:prstGeom prst="rect">
            <a:avLst/>
          </a:prstGeom>
          <a:solidFill>
            <a:srgbClr val="ED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4553712"/>
            <a:ext cx="2697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08297"/>
                </a:solidFill>
                <a:latin typeface="Noto Sans CJK SC"/>
              </a:rPr>
              <a:t>例如：p95 TTFT、SLO 达成率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24728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9324A"/>
                </a:solidFill>
                <a:latin typeface="Noto Sans CJK SC"/>
              </a:rPr>
              <a:t>共同语言的价值：每次优化，都可以明确回答“影响的是承诺、目标，还是实际测量？”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02 / THE TWO MOMENTS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一次 LLM 回答，用户会经历两个“等待时刻”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先看到第一个 token，再持续看到后续 token。两种体验由不同系统行为决定。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70632"/>
            <a:ext cx="1234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08297"/>
                </a:solidFill>
                <a:latin typeface="Noto Sans CJK SC"/>
              </a:rPr>
              <a:t>用户发出请求</a:t>
            </a:r>
          </a:p>
        </p:txBody>
      </p:sp>
      <p:sp>
        <p:nvSpPr>
          <p:cNvPr id="8" name="Oval 7"/>
          <p:cNvSpPr/>
          <p:nvPr/>
        </p:nvSpPr>
        <p:spPr>
          <a:xfrm>
            <a:off x="1847088" y="2660904"/>
            <a:ext cx="256032" cy="256032"/>
          </a:xfrm>
          <a:prstGeom prst="ellipse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103120" y="2788920"/>
            <a:ext cx="8138160" cy="0"/>
          </a:xfrm>
          <a:prstGeom prst="line">
            <a:avLst/>
          </a:prstGeom>
          <a:ln w="25400">
            <a:solidFill>
              <a:srgbClr val="D9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31720" y="2322576"/>
            <a:ext cx="2990088" cy="941832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1176" y="2496312"/>
            <a:ext cx="960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3478C7"/>
                </a:solidFill>
                <a:latin typeface="Noto Sans CJK SC"/>
              </a:rPr>
              <a:t>PREFILL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2743200"/>
            <a:ext cx="24231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1" i="0">
                <a:solidFill>
                  <a:srgbClr val="19324A"/>
                </a:solidFill>
                <a:latin typeface="Noto Sans CJK SC"/>
              </a:rPr>
              <a:t>理解整段 Prompt，生成 KV Cache</a:t>
            </a:r>
          </a:p>
        </p:txBody>
      </p:sp>
      <p:sp>
        <p:nvSpPr>
          <p:cNvPr id="13" name="Oval 12"/>
          <p:cNvSpPr/>
          <p:nvPr/>
        </p:nvSpPr>
        <p:spPr>
          <a:xfrm>
            <a:off x="5138928" y="2596896"/>
            <a:ext cx="393192" cy="39319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3383280"/>
            <a:ext cx="7772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87A68"/>
                </a:solidFill>
                <a:latin typeface="Noto Sans CJK SC"/>
              </a:rPr>
              <a:t>首 token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5524" y="3026664"/>
            <a:ext cx="0" cy="292608"/>
          </a:xfrm>
          <a:prstGeom prst="line">
            <a:avLst/>
          </a:prstGeom>
          <a:ln w="15240">
            <a:solidFill>
              <a:srgbClr val="20A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797296" y="2322576"/>
            <a:ext cx="4425696" cy="941832"/>
          </a:xfrm>
          <a:prstGeom prst="round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496312"/>
            <a:ext cx="960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87A68"/>
                </a:solidFill>
                <a:latin typeface="Noto Sans CJK SC"/>
              </a:rPr>
              <a:t>DECODE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2779776"/>
            <a:ext cx="146304" cy="146304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85431" y="2779776"/>
            <a:ext cx="146304" cy="146304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51775" y="2779776"/>
            <a:ext cx="146304" cy="146304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18119" y="2779776"/>
            <a:ext cx="146304" cy="146304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84463" y="2779776"/>
            <a:ext cx="146304" cy="146304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50808" y="2779776"/>
            <a:ext cx="146304" cy="146304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17152" y="2779776"/>
            <a:ext cx="146304" cy="146304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752344"/>
            <a:ext cx="2651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1" i="0">
                <a:solidFill>
                  <a:srgbClr val="19324A"/>
                </a:solidFill>
                <a:latin typeface="Noto Sans CJK SC"/>
              </a:rPr>
              <a:t>一个 token 接一个 token 地生成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233672"/>
            <a:ext cx="4828032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88720" y="4480560"/>
            <a:ext cx="621792" cy="283464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506163"/>
            <a:ext cx="6217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3478C7"/>
                </a:solidFill>
                <a:latin typeface="Noto Sans CJK SC"/>
              </a:rPr>
              <a:t>TTFT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8528" y="4489704"/>
            <a:ext cx="22860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24A"/>
                </a:solidFill>
                <a:latin typeface="Noto Sans CJK SC"/>
              </a:rPr>
              <a:t>Time To First Token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846320"/>
            <a:ext cx="4069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 i="0">
                <a:solidFill>
                  <a:srgbClr val="708297"/>
                </a:solidFill>
                <a:latin typeface="Noto Sans CJK SC"/>
              </a:rPr>
              <a:t>“我多久能看到系统开始回答？”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4233672"/>
            <a:ext cx="4828032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73952" y="4480560"/>
            <a:ext cx="621792" cy="283464"/>
          </a:xfrm>
          <a:prstGeom prst="round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4506163"/>
            <a:ext cx="6217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087A68"/>
                </a:solidFill>
                <a:latin typeface="Noto Sans CJK SC"/>
              </a:rPr>
              <a:t>TPOT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489704"/>
            <a:ext cx="22860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24A"/>
                </a:solidFill>
                <a:latin typeface="Noto Sans CJK SC"/>
              </a:rPr>
              <a:t>Time Per Output Token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846320"/>
            <a:ext cx="40965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 i="0">
                <a:solidFill>
                  <a:srgbClr val="708297"/>
                </a:solidFill>
                <a:latin typeface="Noto Sans CJK SC"/>
              </a:rPr>
              <a:t>“内容是否以稳定、流畅的节奏出现？”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02 / THE TWO MOMENTS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TTFT 与 TPOT：同一条回答里的两种度量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一个关注“开始得快不快”，一个关注“持续得顺不顺”。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2029968"/>
            <a:ext cx="516636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2376" y="2029968"/>
            <a:ext cx="54864" cy="3246120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240280"/>
            <a:ext cx="4709160" cy="393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9324A"/>
                </a:solidFill>
                <a:latin typeface="Noto Sans CJK SC"/>
              </a:rPr>
              <a:t>TTFT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70048"/>
            <a:ext cx="46634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478C7"/>
                </a:solidFill>
                <a:latin typeface="Noto Sans CJK SC"/>
              </a:rPr>
              <a:t>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035808"/>
            <a:ext cx="4709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7445F"/>
                </a:solidFill>
                <a:latin typeface="Noto Sans CJK SC"/>
              </a:rPr>
              <a:t>首 token 出现前的完整等待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383280"/>
            <a:ext cx="4709160" cy="1737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708297"/>
                </a:solidFill>
                <a:latin typeface="Noto Sans CJK SC"/>
              </a:rPr>
              <a:t>从请求到达开始，包含排队、调度、KV 获取、Prefill、传输等步骤。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2029968"/>
            <a:ext cx="516636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2029968"/>
            <a:ext cx="54864" cy="3246120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2240280"/>
            <a:ext cx="4709160" cy="393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9324A"/>
                </a:solidFill>
                <a:latin typeface="Noto Sans CJK SC"/>
              </a:rPr>
              <a:t>TPOT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670048"/>
            <a:ext cx="46634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0A38B"/>
                </a:solidFill>
                <a:latin typeface="Noto Sans CJK SC"/>
              </a:rPr>
              <a:t>每个 token 的时间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035808"/>
            <a:ext cx="47091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7445F"/>
                </a:solidFill>
                <a:latin typeface="Noto Sans CJK SC"/>
              </a:rPr>
              <a:t>生成过程的平均步长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383280"/>
            <a:ext cx="4709160" cy="1737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708297"/>
                </a:solidFill>
                <a:latin typeface="Noto Sans CJK SC"/>
              </a:rPr>
              <a:t>进入 Decode 后，相邻输出 token 之间的平均间隔；越稳定，阅读越流畅。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5641848"/>
            <a:ext cx="10735056" cy="420624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5751576"/>
            <a:ext cx="10287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7445F"/>
                </a:solidFill>
                <a:latin typeface="Noto Sans CJK SC"/>
              </a:rPr>
              <a:t>TTFT = 排队 + 调度 + KV 获取 + Prefill + 传输   ｜   TPOT ≈ Decode 总时间 ÷（输出 token 数 − 1）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02 / THE TWO MOMENTS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平均值很好看，不代表体验真的达标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SLO 关注的是：有多少用户被“尾部延迟”拖慢。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5760720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59152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08297"/>
                </a:solidFill>
                <a:latin typeface="Noto Sans CJK SC"/>
              </a:rPr>
              <a:t>Latency distribution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33856" y="5010912"/>
            <a:ext cx="5047488" cy="0"/>
          </a:xfrm>
          <a:prstGeom prst="line">
            <a:avLst/>
          </a:prstGeom>
          <a:ln w="1016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33856" y="2798064"/>
            <a:ext cx="0" cy="2212848"/>
          </a:xfrm>
          <a:prstGeom prst="line">
            <a:avLst/>
          </a:prstGeom>
          <a:ln w="1016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389888" y="4718304"/>
            <a:ext cx="237744" cy="274320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55648" y="4407408"/>
            <a:ext cx="237744" cy="585216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21408" y="3904487"/>
            <a:ext cx="237744" cy="1088136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87168" y="3401568"/>
            <a:ext cx="237744" cy="1591056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52928" y="3118104"/>
            <a:ext cx="237744" cy="1874519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18688" y="3273552"/>
            <a:ext cx="237744" cy="1719072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84448" y="3657600"/>
            <a:ext cx="237744" cy="1335024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50208" y="4096512"/>
            <a:ext cx="237744" cy="896112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4480560"/>
            <a:ext cx="237744" cy="512064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1728" y="4709160"/>
            <a:ext cx="237744" cy="283464"/>
          </a:xfrm>
          <a:prstGeom prst="rect">
            <a:avLst/>
          </a:prstGeom>
          <a:solidFill>
            <a:srgbClr val="ED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7488" y="4837176"/>
            <a:ext cx="237744" cy="155448"/>
          </a:xfrm>
          <a:prstGeom prst="rect">
            <a:avLst/>
          </a:prstGeom>
          <a:solidFill>
            <a:srgbClr val="ED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4910328"/>
            <a:ext cx="237744" cy="82296"/>
          </a:xfrm>
          <a:prstGeom prst="rect">
            <a:avLst/>
          </a:prstGeom>
          <a:solidFill>
            <a:srgbClr val="ED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794760" y="2798064"/>
            <a:ext cx="0" cy="2212848"/>
          </a:xfrm>
          <a:prstGeom prst="line">
            <a:avLst/>
          </a:prstGeom>
          <a:ln w="12700">
            <a:solidFill>
              <a:srgbClr val="347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11880" y="5148072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60" b="1" i="0">
                <a:solidFill>
                  <a:srgbClr val="3478C7"/>
                </a:solidFill>
                <a:latin typeface="Noto Sans CJK SC"/>
              </a:rPr>
              <a:t>p50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74920" y="2798064"/>
            <a:ext cx="0" cy="2212848"/>
          </a:xfrm>
          <a:prstGeom prst="line">
            <a:avLst/>
          </a:prstGeom>
          <a:ln w="12700">
            <a:solidFill>
              <a:srgbClr val="ED7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892040" y="5148072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60" b="1" i="0">
                <a:solidFill>
                  <a:srgbClr val="ED7955"/>
                </a:solidFill>
                <a:latin typeface="Noto Sans CJK SC"/>
              </a:rPr>
              <a:t>p95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50992" y="2798064"/>
            <a:ext cx="0" cy="2212848"/>
          </a:xfrm>
          <a:prstGeom prst="line">
            <a:avLst/>
          </a:prstGeom>
          <a:ln w="12700">
            <a:solidFill>
              <a:srgbClr val="ED7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68112" y="5148072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60" b="1" i="0">
                <a:solidFill>
                  <a:srgbClr val="ED7955"/>
                </a:solidFill>
                <a:latin typeface="Noto Sans CJK SC"/>
              </a:rPr>
              <a:t>p99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5230368"/>
            <a:ext cx="4937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 i="0">
                <a:solidFill>
                  <a:srgbClr val="708297"/>
                </a:solidFill>
                <a:latin typeface="Noto Sans CJK SC"/>
              </a:rPr>
              <a:t>少数慢请求，决定了用户对系统的“最坏印象”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2103120"/>
            <a:ext cx="4553712" cy="3401568"/>
          </a:xfrm>
          <a:prstGeom prst="roundRect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14616" y="2423160"/>
            <a:ext cx="21945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DF4ED"/>
                </a:solidFill>
                <a:latin typeface="Noto Sans CJK SC"/>
              </a:rPr>
              <a:t>SLO attainment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4616" y="2926080"/>
            <a:ext cx="31089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Noto Sans CJK SC"/>
              </a:rPr>
              <a:t>达标的请求数
÷ 总请求数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214616" y="3822191"/>
            <a:ext cx="3877056" cy="0"/>
          </a:xfrm>
          <a:prstGeom prst="line">
            <a:avLst/>
          </a:prstGeom>
          <a:ln w="12700">
            <a:solidFill>
              <a:srgbClr val="20A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232904" y="4123944"/>
            <a:ext cx="91440" cy="91440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0648" y="4087368"/>
            <a:ext cx="34107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 i="0">
                <a:solidFill>
                  <a:srgbClr val="DCE7EC"/>
                </a:solidFill>
                <a:latin typeface="Noto Sans CJK SC"/>
              </a:rPr>
              <a:t>观察 p50，知道典型体验</a:t>
            </a:r>
          </a:p>
        </p:txBody>
      </p:sp>
      <p:sp>
        <p:nvSpPr>
          <p:cNvPr id="36" name="Oval 35"/>
          <p:cNvSpPr/>
          <p:nvPr/>
        </p:nvSpPr>
        <p:spPr>
          <a:xfrm>
            <a:off x="7232904" y="4462272"/>
            <a:ext cx="91440" cy="91440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0648" y="4425696"/>
            <a:ext cx="34107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 i="0">
                <a:solidFill>
                  <a:srgbClr val="DCE7EC"/>
                </a:solidFill>
                <a:latin typeface="Noto Sans CJK SC"/>
              </a:rPr>
              <a:t>观察 p95 / p99，发现尾部风险</a:t>
            </a:r>
          </a:p>
        </p:txBody>
      </p:sp>
      <p:sp>
        <p:nvSpPr>
          <p:cNvPr id="38" name="Oval 37"/>
          <p:cNvSpPr/>
          <p:nvPr/>
        </p:nvSpPr>
        <p:spPr>
          <a:xfrm>
            <a:off x="7232904" y="4800600"/>
            <a:ext cx="91440" cy="91440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70648" y="4764024"/>
            <a:ext cx="34107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 i="0">
                <a:solidFill>
                  <a:srgbClr val="DCE7EC"/>
                </a:solidFill>
                <a:latin typeface="Noto Sans CJK SC"/>
              </a:rPr>
              <a:t>按上下文长度分桶，避免长请求被掩盖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5888736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9324A"/>
                </a:solidFill>
                <a:latin typeface="Noto Sans CJK SC"/>
              </a:rPr>
              <a:t>讨论 SLO 时，先问：“我们在看平均值，还是在看真正不达标的人数？”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02 / THE TWO MOMENTS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Goodput：满足体验约束后的“有效服务量”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吞吐最高，不一定等于用户体验最好；真正有效的是同时满足两个 SLO 的请求。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1965960"/>
            <a:ext cx="10625328" cy="1024128"/>
          </a:xfrm>
          <a:prstGeom prst="roundRect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1013155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Noto Sans CJK SC"/>
              </a:rPr>
              <a:t>Goodput  =  在 TTFT 与 TPOT 都达标的前提下，单位时间内成功服务的请求数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730752"/>
            <a:ext cx="2331720" cy="123444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968496"/>
            <a:ext cx="19842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1" i="0">
                <a:solidFill>
                  <a:srgbClr val="19324A"/>
                </a:solidFill>
                <a:latin typeface="Noto Sans CJK SC"/>
              </a:rPr>
              <a:t>吞吐提升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389120"/>
            <a:ext cx="19842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0" i="0">
                <a:solidFill>
                  <a:srgbClr val="27445F"/>
                </a:solidFill>
                <a:latin typeface="Noto Sans CJK SC"/>
              </a:rPr>
              <a:t>GPU 更忙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90672" y="4352544"/>
            <a:ext cx="347472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vron 12"/>
          <p:cNvSpPr/>
          <p:nvPr/>
        </p:nvSpPr>
        <p:spPr>
          <a:xfrm>
            <a:off x="3319272" y="4288536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47872" y="3730752"/>
            <a:ext cx="2331720" cy="1234440"/>
          </a:xfrm>
          <a:prstGeom prst="roundRect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2463" y="3968496"/>
            <a:ext cx="19842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1" i="0">
                <a:solidFill>
                  <a:srgbClr val="19324A"/>
                </a:solidFill>
                <a:latin typeface="Noto Sans CJK SC"/>
              </a:rPr>
              <a:t>资源更满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4389120"/>
            <a:ext cx="19842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0" i="0">
                <a:solidFill>
                  <a:srgbClr val="27445F"/>
                </a:solidFill>
                <a:latin typeface="Noto Sans CJK SC"/>
              </a:rPr>
              <a:t>排队 / 干扰增加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25312" y="4352544"/>
            <a:ext cx="347471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evron 17"/>
          <p:cNvSpPr/>
          <p:nvPr/>
        </p:nvSpPr>
        <p:spPr>
          <a:xfrm>
            <a:off x="6153912" y="4288536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82512" y="3730752"/>
            <a:ext cx="2331720" cy="1234440"/>
          </a:xfrm>
          <a:prstGeom prst="round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968496"/>
            <a:ext cx="19842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1" i="0">
                <a:solidFill>
                  <a:srgbClr val="19324A"/>
                </a:solidFill>
                <a:latin typeface="Noto Sans CJK SC"/>
              </a:rPr>
              <a:t>体验波动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389120"/>
            <a:ext cx="19842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0" i="0">
                <a:solidFill>
                  <a:srgbClr val="27445F"/>
                </a:solidFill>
                <a:latin typeface="Noto Sans CJK SC"/>
              </a:rPr>
              <a:t>SLO 达成率下降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59952" y="4352544"/>
            <a:ext cx="347472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>
            <a:off x="8988552" y="4288536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17152" y="3730752"/>
            <a:ext cx="2331720" cy="1234440"/>
          </a:xfrm>
          <a:prstGeom prst="round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3968496"/>
            <a:ext cx="19842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60" b="1" i="0">
                <a:solidFill>
                  <a:srgbClr val="19324A"/>
                </a:solidFill>
                <a:latin typeface="Noto Sans CJK SC"/>
              </a:rPr>
              <a:t>有效服务量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4389120"/>
            <a:ext cx="19842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0" i="0">
                <a:solidFill>
                  <a:srgbClr val="27445F"/>
                </a:solidFill>
                <a:latin typeface="Noto Sans CJK SC"/>
              </a:rPr>
              <a:t>Goodput 可能下降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623560"/>
            <a:ext cx="1042416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87A68"/>
                </a:solidFill>
                <a:latin typeface="Noto Sans CJK SC"/>
              </a:rPr>
              <a:t>核心判断：不是“设备忙不忙”，而是“用户体验达标的请求有多少”。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03 / WHERE DELAY COMES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TTFT 不是单纯的 Prefill 时间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在第一个 token 出现前，系统已完成一条完整的服务链路。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432304"/>
            <a:ext cx="1874519" cy="2194560"/>
          </a:xfrm>
          <a:prstGeom prst="roundRect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2651760"/>
            <a:ext cx="347472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677363"/>
            <a:ext cx="34747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ED7955"/>
                </a:solidFill>
                <a:latin typeface="Noto Sans CJK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136392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9324A"/>
                </a:solidFill>
                <a:latin typeface="Noto Sans CJK SC"/>
              </a:rPr>
              <a:t>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593592"/>
            <a:ext cx="150876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7445F"/>
                </a:solidFill>
                <a:latin typeface="Noto Sans CJK SC"/>
              </a:rPr>
              <a:t>请求在队列中等待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24328" y="3529584"/>
            <a:ext cx="265176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vron 12"/>
          <p:cNvSpPr/>
          <p:nvPr/>
        </p:nvSpPr>
        <p:spPr>
          <a:xfrm>
            <a:off x="2770632" y="3465576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80944" y="2432304"/>
            <a:ext cx="1874519" cy="2194560"/>
          </a:xfrm>
          <a:prstGeom prst="round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45536" y="2651760"/>
            <a:ext cx="347472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45536" y="2677363"/>
            <a:ext cx="34747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D59B22"/>
                </a:solidFill>
                <a:latin typeface="Noto Sans CJK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3136392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9324A"/>
                </a:solidFill>
                <a:latin typeface="Noto Sans CJK SC"/>
              </a:rPr>
              <a:t>Schedule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5536" y="3593592"/>
            <a:ext cx="150876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7445F"/>
                </a:solidFill>
                <a:latin typeface="Noto Sans CJK SC"/>
              </a:rPr>
              <a:t>挑选何时、与谁一起执行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92040" y="3529584"/>
            <a:ext cx="265176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evron 19"/>
          <p:cNvSpPr/>
          <p:nvPr/>
        </p:nvSpPr>
        <p:spPr>
          <a:xfrm>
            <a:off x="5038344" y="3465576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48656" y="2432304"/>
            <a:ext cx="1874519" cy="219456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13248" y="2651760"/>
            <a:ext cx="347472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3248" y="2677363"/>
            <a:ext cx="34747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3478C7"/>
                </a:solidFill>
                <a:latin typeface="Noto Sans CJK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3136392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9324A"/>
                </a:solidFill>
                <a:latin typeface="Noto Sans CJK SC"/>
              </a:rPr>
              <a:t>KV Retrieval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3593592"/>
            <a:ext cx="150876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7445F"/>
                </a:solidFill>
                <a:latin typeface="Noto Sans CJK SC"/>
              </a:rPr>
              <a:t>复用或恢复既有上下文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59752" y="3529584"/>
            <a:ext cx="265176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evron 26"/>
          <p:cNvSpPr/>
          <p:nvPr/>
        </p:nvSpPr>
        <p:spPr>
          <a:xfrm>
            <a:off x="7306056" y="3465576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16367" y="2432304"/>
            <a:ext cx="1874519" cy="2194560"/>
          </a:xfrm>
          <a:prstGeom prst="round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80959" y="2651760"/>
            <a:ext cx="347472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59" y="2677363"/>
            <a:ext cx="34747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087A68"/>
                </a:solidFill>
                <a:latin typeface="Noto Sans CJK S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59" y="3136392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9324A"/>
                </a:solidFill>
                <a:latin typeface="Noto Sans CJK SC"/>
              </a:rPr>
              <a:t>Prefill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59" y="3593592"/>
            <a:ext cx="150876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7445F"/>
                </a:solidFill>
                <a:latin typeface="Noto Sans CJK SC"/>
              </a:rPr>
              <a:t>理解输入并构建 KV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427463" y="3529584"/>
            <a:ext cx="265176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hevron 33"/>
          <p:cNvSpPr/>
          <p:nvPr/>
        </p:nvSpPr>
        <p:spPr>
          <a:xfrm>
            <a:off x="9573767" y="3465576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784080" y="2432304"/>
            <a:ext cx="1874519" cy="2194560"/>
          </a:xfrm>
          <a:prstGeom prst="roundRect">
            <a:avLst/>
          </a:prstGeom>
          <a:solidFill>
            <a:srgbClr val="EF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948672" y="2651760"/>
            <a:ext cx="347472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48672" y="2677363"/>
            <a:ext cx="34747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7257B8"/>
                </a:solidFill>
                <a:latin typeface="Noto Sans CJK SC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48672" y="3136392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9324A"/>
                </a:solidFill>
                <a:latin typeface="Noto Sans CJK SC"/>
              </a:rPr>
              <a:t>Transfer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48672" y="3593592"/>
            <a:ext cx="150876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7445F"/>
                </a:solidFill>
                <a:latin typeface="Noto Sans CJK SC"/>
              </a:rPr>
              <a:t>必要的数据搬运与通信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128" y="5138928"/>
            <a:ext cx="10149840" cy="484632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07008" y="5285232"/>
            <a:ext cx="9784080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9324A"/>
                </a:solidFill>
                <a:latin typeface="Noto Sans CJK SC"/>
              </a:rPr>
              <a:t>优化 TTFT 的第一步：先判断时间到底消耗在“等待”、 “计算”，还是“取数据”。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03 / WHERE DELAY COMES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TTFT 的最大敌人之一：排队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当请求抵达速度超过系统服务速度，等待会首先吞噬延迟预算。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95144"/>
            <a:ext cx="10972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08297"/>
                </a:solidFill>
                <a:latin typeface="Noto Sans CJK SC"/>
              </a:rPr>
              <a:t>请求到达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788920"/>
            <a:ext cx="146304" cy="146304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3044952"/>
            <a:ext cx="146304" cy="146304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63040" y="2788920"/>
            <a:ext cx="146304" cy="146304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37360" y="3044952"/>
            <a:ext cx="146304" cy="146304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11680" y="2788920"/>
            <a:ext cx="146304" cy="146304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0" y="3044952"/>
            <a:ext cx="146304" cy="146304"/>
          </a:xfrm>
          <a:prstGeom prst="ellipse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2697480" y="2962656"/>
            <a:ext cx="1115568" cy="0"/>
          </a:xfrm>
          <a:prstGeom prst="line">
            <a:avLst/>
          </a:prstGeom>
          <a:ln w="19050">
            <a:solidFill>
              <a:srgbClr val="3478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22776" y="2340864"/>
            <a:ext cx="1207008" cy="1207008"/>
          </a:xfrm>
          <a:prstGeom prst="roundRect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42232" y="2606040"/>
            <a:ext cx="7680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D7955"/>
                </a:solidFill>
                <a:latin typeface="Noto Sans CJK SC"/>
              </a:rPr>
              <a:t>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2" y="2944368"/>
            <a:ext cx="76809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24A"/>
                </a:solidFill>
                <a:latin typeface="Noto Sans CJK SC"/>
              </a:rPr>
              <a:t>等待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02936" y="2962656"/>
            <a:ext cx="722376" cy="0"/>
          </a:xfrm>
          <a:prstGeom prst="line">
            <a:avLst/>
          </a:prstGeom>
          <a:ln w="19050">
            <a:solidFill>
              <a:srgbClr val="ED7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035040" y="2340864"/>
            <a:ext cx="1453896" cy="1207008"/>
          </a:xfrm>
          <a:prstGeom prst="round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606040"/>
            <a:ext cx="8412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87A68"/>
                </a:solidFill>
                <a:latin typeface="Noto Sans CJK SC"/>
              </a:rPr>
              <a:t>GPU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944368"/>
            <a:ext cx="8412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9324A"/>
                </a:solidFill>
                <a:latin typeface="Noto Sans CJK SC"/>
              </a:rPr>
              <a:t>执行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2084831"/>
            <a:ext cx="3319272" cy="3090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5" y="2395728"/>
            <a:ext cx="21031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9324A"/>
                </a:solidFill>
                <a:latin typeface="Noto Sans CJK SC"/>
              </a:rPr>
              <a:t>当负载提升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2862072"/>
            <a:ext cx="868680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955"/>
                </a:solidFill>
                <a:latin typeface="Noto Sans CJK SC"/>
              </a:rPr>
              <a:t>QPS 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862072"/>
            <a:ext cx="17190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708297"/>
                </a:solidFill>
                <a:latin typeface="Noto Sans CJK SC"/>
              </a:rPr>
              <a:t>请求来的更快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41080" y="3072384"/>
            <a:ext cx="0" cy="182880"/>
          </a:xfrm>
          <a:prstGeom prst="line">
            <a:avLst/>
          </a:prstGeom>
          <a:ln w="11430">
            <a:solidFill>
              <a:srgbClr val="D9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66175" y="3346704"/>
            <a:ext cx="868680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955"/>
                </a:solidFill>
                <a:latin typeface="Noto Sans CJK SC"/>
              </a:rPr>
              <a:t>Queue 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346704"/>
            <a:ext cx="17190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708297"/>
                </a:solidFill>
                <a:latin typeface="Noto Sans CJK SC"/>
              </a:rPr>
              <a:t>更多请求开始等待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41080" y="3557016"/>
            <a:ext cx="0" cy="182880"/>
          </a:xfrm>
          <a:prstGeom prst="line">
            <a:avLst/>
          </a:prstGeom>
          <a:ln w="11430">
            <a:solidFill>
              <a:srgbClr val="D9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66175" y="3831335"/>
            <a:ext cx="868680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955"/>
                </a:solidFill>
                <a:latin typeface="Noto Sans CJK SC"/>
              </a:rPr>
              <a:t>TTFT 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831335"/>
            <a:ext cx="17190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708297"/>
                </a:solidFill>
                <a:latin typeface="Noto Sans CJK SC"/>
              </a:rPr>
              <a:t>首 token 变慢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4041648"/>
            <a:ext cx="0" cy="182879"/>
          </a:xfrm>
          <a:prstGeom prst="line">
            <a:avLst/>
          </a:prstGeom>
          <a:ln w="11430">
            <a:solidFill>
              <a:srgbClr val="D9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66175" y="4315968"/>
            <a:ext cx="868680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D7955"/>
                </a:solidFill>
                <a:latin typeface="Noto Sans CJK SC"/>
              </a:rPr>
              <a:t>Violation 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315968"/>
            <a:ext cx="17190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708297"/>
                </a:solidFill>
                <a:latin typeface="Noto Sans CJK SC"/>
              </a:rPr>
              <a:t>更多请求失去达标资格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" y="4956048"/>
            <a:ext cx="6675120" cy="539496"/>
          </a:xfrm>
          <a:prstGeom prst="roundRect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5568" y="5120640"/>
            <a:ext cx="6144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Noto Sans CJK SC"/>
              </a:rPr>
              <a:t>关键提醒：TTFT 优化不能只盯着 Prefill kernel。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03 / WHERE DELAY COMES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KV Cache：复用很重要，但“命中”不等于更快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缓存要考虑放在哪里、搬回来要多久，以及请求还剩多少延迟预算。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231136"/>
            <a:ext cx="2331720" cy="2066543"/>
          </a:xfrm>
          <a:prstGeom prst="round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551176"/>
            <a:ext cx="1965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9324A"/>
                </a:solidFill>
                <a:latin typeface="Noto Sans CJK SC"/>
              </a:rPr>
              <a:t>HBM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035808"/>
            <a:ext cx="1965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87A68"/>
                </a:solidFill>
                <a:latin typeface="Noto Sans CJK SC"/>
              </a:rPr>
              <a:t>最近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456432"/>
            <a:ext cx="1965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7445F"/>
                </a:solidFill>
                <a:latin typeface="Noto Sans CJK SC"/>
              </a:rPr>
              <a:t>极低延迟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18688" y="3255264"/>
            <a:ext cx="283464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3383280" y="3191256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02736" y="2231136"/>
            <a:ext cx="2331720" cy="2066543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5" y="2551176"/>
            <a:ext cx="1965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9324A"/>
                </a:solidFill>
                <a:latin typeface="Noto Sans CJK SC"/>
              </a:rPr>
              <a:t>DRAM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5" y="3035808"/>
            <a:ext cx="1965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3478C7"/>
                </a:solidFill>
                <a:latin typeface="Noto Sans CJK SC"/>
              </a:rPr>
              <a:t>较远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5" y="3456432"/>
            <a:ext cx="1965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7445F"/>
                </a:solidFill>
                <a:latin typeface="Noto Sans CJK SC"/>
              </a:rPr>
              <a:t>需要搬运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0176" y="3255264"/>
            <a:ext cx="283464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evron 17"/>
          <p:cNvSpPr/>
          <p:nvPr/>
        </p:nvSpPr>
        <p:spPr>
          <a:xfrm>
            <a:off x="6144768" y="3191256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64224" y="2231136"/>
            <a:ext cx="2331720" cy="2066543"/>
          </a:xfrm>
          <a:prstGeom prst="roundRect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2551176"/>
            <a:ext cx="1965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9324A"/>
                </a:solidFill>
                <a:latin typeface="Noto Sans CJK SC"/>
              </a:rPr>
              <a:t>NVMe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035808"/>
            <a:ext cx="1965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D7955"/>
                </a:solidFill>
                <a:latin typeface="Noto Sans CJK SC"/>
              </a:rPr>
              <a:t>更远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3456432"/>
            <a:ext cx="1965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7445F"/>
                </a:solidFill>
                <a:latin typeface="Noto Sans CJK SC"/>
              </a:rPr>
              <a:t>恢复成本可能很高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41664" y="3255264"/>
            <a:ext cx="283464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8906256" y="3191256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25712" y="2231136"/>
            <a:ext cx="2331720" cy="2066543"/>
          </a:xfrm>
          <a:prstGeom prst="round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2551176"/>
            <a:ext cx="19659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9324A"/>
                </a:solidFill>
                <a:latin typeface="Noto Sans CJK SC"/>
              </a:rPr>
              <a:t>Miss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3035808"/>
            <a:ext cx="1965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D59B22"/>
                </a:solidFill>
                <a:latin typeface="Noto Sans CJK SC"/>
              </a:rPr>
              <a:t>无缓存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3456432"/>
            <a:ext cx="1965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27445F"/>
                </a:solidFill>
                <a:latin typeface="Noto Sans CJK SC"/>
              </a:rPr>
              <a:t>需要重新 Prefill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4828032"/>
            <a:ext cx="1060704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4712" y="5065776"/>
            <a:ext cx="3090672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D7955"/>
                </a:solidFill>
                <a:latin typeface="Noto Sans CJK SC"/>
              </a:rPr>
              <a:t>Cache Hit  ≠  TTFT 一定更低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86784" y="5056632"/>
            <a:ext cx="6903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60" b="0" i="0">
                <a:solidFill>
                  <a:srgbClr val="708297"/>
                </a:solidFill>
                <a:latin typeface="Noto Sans CJK SC"/>
              </a:rPr>
              <a:t>如果从深层存储恢复 KV 的传输时间，超过了节省下来的 Prefill 计算时间，用户仍会感觉“首字很慢”。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04 / SUSTAINED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TPOT 描述的是“内容出现的节奏”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生成阶段每多一份等待，用户都会在阅读过程中感到卡顿。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240280"/>
            <a:ext cx="2240280" cy="2240280"/>
          </a:xfrm>
          <a:prstGeom prst="ellipse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62072"/>
            <a:ext cx="1783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87A68"/>
                </a:solidFill>
                <a:latin typeface="Noto Sans CJK SC"/>
              </a:rPr>
              <a:t>Decode
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2313432"/>
            <a:ext cx="1481328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596896"/>
            <a:ext cx="126187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 i="0">
                <a:solidFill>
                  <a:srgbClr val="19324A"/>
                </a:solidFill>
                <a:latin typeface="Noto Sans CJK SC"/>
              </a:rPr>
              <a:t>Attention
读取 KV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313432"/>
            <a:ext cx="1481328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4688" y="2596896"/>
            <a:ext cx="126187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 i="0">
                <a:solidFill>
                  <a:srgbClr val="19324A"/>
                </a:solidFill>
                <a:latin typeface="Noto Sans CJK SC"/>
              </a:rPr>
              <a:t>Linear / MoE
计算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65776" y="2862072"/>
            <a:ext cx="256032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evron 13"/>
          <p:cNvSpPr/>
          <p:nvPr/>
        </p:nvSpPr>
        <p:spPr>
          <a:xfrm>
            <a:off x="5202936" y="2798064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42048" y="2313432"/>
            <a:ext cx="1481328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1775" y="2596896"/>
            <a:ext cx="126187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 i="0">
                <a:solidFill>
                  <a:srgbClr val="19324A"/>
                </a:solidFill>
                <a:latin typeface="Noto Sans CJK SC"/>
              </a:rPr>
              <a:t>Communication
协同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12864" y="2862072"/>
            <a:ext cx="256032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evron 17"/>
          <p:cNvSpPr/>
          <p:nvPr/>
        </p:nvSpPr>
        <p:spPr>
          <a:xfrm>
            <a:off x="7050024" y="2798064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89136" y="2313432"/>
            <a:ext cx="1481328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3" y="2596896"/>
            <a:ext cx="1261872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 i="0">
                <a:solidFill>
                  <a:srgbClr val="19324A"/>
                </a:solidFill>
                <a:latin typeface="Noto Sans CJK SC"/>
              </a:rPr>
              <a:t>Scheduling
下一步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59952" y="2862072"/>
            <a:ext cx="256032" cy="0"/>
          </a:xfrm>
          <a:prstGeom prst="line">
            <a:avLst/>
          </a:prstGeom>
          <a:ln w="20320">
            <a:solidFill>
              <a:srgbClr val="7082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>
            <a:off x="8897111" y="2798064"/>
            <a:ext cx="155448" cy="128016"/>
          </a:xfrm>
          <a:prstGeom prst="chevron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044952" y="2788920"/>
            <a:ext cx="356616" cy="0"/>
          </a:xfrm>
          <a:prstGeom prst="line">
            <a:avLst/>
          </a:prstGeom>
          <a:ln w="20320">
            <a:solidFill>
              <a:srgbClr val="20A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3282696" y="2724912"/>
            <a:ext cx="155448" cy="128016"/>
          </a:xfrm>
          <a:prstGeom prst="chevron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4" y="4352544"/>
            <a:ext cx="91440" cy="91440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" y="4315968"/>
            <a:ext cx="1325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324A"/>
                </a:solidFill>
                <a:latin typeface="Noto Sans CJK SC"/>
              </a:rPr>
              <a:t>Batch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0864" y="4315968"/>
            <a:ext cx="35478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708297"/>
                </a:solidFill>
                <a:latin typeface="Noto Sans CJK SC"/>
              </a:rPr>
              <a:t>同一轮服务更多请求，也可能拉长单步</a:t>
            </a:r>
          </a:p>
        </p:txBody>
      </p:sp>
      <p:sp>
        <p:nvSpPr>
          <p:cNvPr id="28" name="Oval 27"/>
          <p:cNvSpPr/>
          <p:nvPr/>
        </p:nvSpPr>
        <p:spPr>
          <a:xfrm>
            <a:off x="6272784" y="4352544"/>
            <a:ext cx="91440" cy="91440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315968"/>
            <a:ext cx="1325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324A"/>
                </a:solidFill>
                <a:latin typeface="Noto Sans CJK SC"/>
              </a:rPr>
              <a:t>Memory bandwidth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1544" y="4315968"/>
            <a:ext cx="35478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708297"/>
                </a:solidFill>
                <a:latin typeface="Noto Sans CJK SC"/>
              </a:rPr>
              <a:t>KV 访问是 Decode 的关键成本</a:t>
            </a:r>
          </a:p>
        </p:txBody>
      </p:sp>
      <p:sp>
        <p:nvSpPr>
          <p:cNvPr id="31" name="Oval 30"/>
          <p:cNvSpPr/>
          <p:nvPr/>
        </p:nvSpPr>
        <p:spPr>
          <a:xfrm>
            <a:off x="832104" y="4974336"/>
            <a:ext cx="91440" cy="91440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" y="4937759"/>
            <a:ext cx="1325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324A"/>
                </a:solidFill>
                <a:latin typeface="Noto Sans CJK SC"/>
              </a:rPr>
              <a:t>Prefill interference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40864" y="4937759"/>
            <a:ext cx="35478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708297"/>
                </a:solidFill>
                <a:latin typeface="Noto Sans CJK SC"/>
              </a:rPr>
              <a:t>抢占资源会让每一步变长</a:t>
            </a:r>
          </a:p>
        </p:txBody>
      </p:sp>
      <p:sp>
        <p:nvSpPr>
          <p:cNvPr id="34" name="Oval 33"/>
          <p:cNvSpPr/>
          <p:nvPr/>
        </p:nvSpPr>
        <p:spPr>
          <a:xfrm>
            <a:off x="6272784" y="4974336"/>
            <a:ext cx="91440" cy="91440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4937759"/>
            <a:ext cx="1325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324A"/>
                </a:solidFill>
                <a:latin typeface="Noto Sans CJK SC"/>
              </a:rPr>
              <a:t>TP / EP 通信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81544" y="4937759"/>
            <a:ext cx="354787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708297"/>
                </a:solidFill>
                <a:latin typeface="Noto Sans CJK SC"/>
              </a:rPr>
              <a:t>网络与通信会直接传导到 TPOT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04 / SUSTAINED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Prefill 与 Decode 同处时：资源干扰会放大 TPOT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PD Aggregation 让资源利用更紧凑，也让两个不同节奏的任务相互影响。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103120"/>
            <a:ext cx="4736592" cy="3383280"/>
          </a:xfrm>
          <a:prstGeom prst="roundRect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414016"/>
            <a:ext cx="18288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DF4ED"/>
                </a:solidFill>
                <a:latin typeface="Noto Sans CJK SC"/>
              </a:rPr>
              <a:t>一块 GPU 内部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61288" y="2926080"/>
            <a:ext cx="1755648" cy="1691640"/>
          </a:xfrm>
          <a:prstGeom prst="roundRect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3246120"/>
            <a:ext cx="13716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ED7955"/>
                </a:solidFill>
                <a:latin typeface="Noto Sans CJK SC"/>
              </a:rPr>
              <a:t>PREFILL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3611880"/>
            <a:ext cx="13716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9324A"/>
                </a:solidFill>
                <a:latin typeface="Noto Sans CJK SC"/>
              </a:rPr>
              <a:t>计算密集
批量处理输入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2926080"/>
            <a:ext cx="1755648" cy="1691640"/>
          </a:xfrm>
          <a:prstGeom prst="round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3246120"/>
            <a:ext cx="13716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87A68"/>
                </a:solidFill>
                <a:latin typeface="Noto Sans CJK SC"/>
              </a:rPr>
              <a:t>DECODE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611880"/>
            <a:ext cx="13716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9324A"/>
                </a:solidFill>
                <a:latin typeface="Noto Sans CJK SC"/>
              </a:rPr>
              <a:t>单步敏感
持续产生输出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16936" y="3767328"/>
            <a:ext cx="438912" cy="0"/>
          </a:xfrm>
          <a:prstGeom prst="line">
            <a:avLst/>
          </a:prstGeom>
          <a:ln w="25400">
            <a:solidFill>
              <a:srgbClr val="ED79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89320" y="2103120"/>
            <a:ext cx="53949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432304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324A"/>
                </a:solidFill>
                <a:latin typeface="Noto Sans CJK SC"/>
              </a:rPr>
              <a:t>资源竞争链路</a:t>
            </a:r>
          </a:p>
        </p:txBody>
      </p:sp>
      <p:sp>
        <p:nvSpPr>
          <p:cNvPr id="18" name="Oval 17"/>
          <p:cNvSpPr/>
          <p:nvPr/>
        </p:nvSpPr>
        <p:spPr>
          <a:xfrm>
            <a:off x="6336792" y="2971800"/>
            <a:ext cx="265176" cy="265176"/>
          </a:xfrm>
          <a:prstGeom prst="ellipse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3043397"/>
            <a:ext cx="265176" cy="10076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9324A"/>
                </a:solidFill>
                <a:latin typeface="Noto Sans CJK SC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984" y="2962656"/>
            <a:ext cx="1691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1" i="0">
                <a:solidFill>
                  <a:srgbClr val="19324A"/>
                </a:solidFill>
                <a:latin typeface="Noto Sans CJK SC"/>
              </a:rPr>
              <a:t>Prefill 工作量 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962656"/>
            <a:ext cx="241401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 i="0">
                <a:solidFill>
                  <a:srgbClr val="708297"/>
                </a:solidFill>
                <a:latin typeface="Noto Sans CJK SC"/>
              </a:rPr>
              <a:t>占用更多计算 / 调度机会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64808" y="3255264"/>
            <a:ext cx="0" cy="219456"/>
          </a:xfrm>
          <a:prstGeom prst="line">
            <a:avLst/>
          </a:prstGeom>
          <a:ln w="11430">
            <a:solidFill>
              <a:srgbClr val="D9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336792" y="3611880"/>
            <a:ext cx="265176" cy="265176"/>
          </a:xfrm>
          <a:prstGeom prst="ellipse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3683477"/>
            <a:ext cx="265176" cy="10076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9324A"/>
                </a:solidFill>
                <a:latin typeface="Noto Sans CJK SC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3602736"/>
            <a:ext cx="1691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1" i="0">
                <a:solidFill>
                  <a:srgbClr val="19324A"/>
                </a:solidFill>
                <a:latin typeface="Noto Sans CJK SC"/>
              </a:rPr>
              <a:t>Decode 等待 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3602736"/>
            <a:ext cx="241401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 i="0">
                <a:solidFill>
                  <a:srgbClr val="708297"/>
                </a:solidFill>
                <a:latin typeface="Noto Sans CJK SC"/>
              </a:rPr>
              <a:t>每个生成步变慢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64808" y="3895344"/>
            <a:ext cx="0" cy="219456"/>
          </a:xfrm>
          <a:prstGeom prst="line">
            <a:avLst/>
          </a:prstGeom>
          <a:ln w="11430">
            <a:solidFill>
              <a:srgbClr val="D9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336792" y="4251960"/>
            <a:ext cx="265176" cy="265176"/>
          </a:xfrm>
          <a:prstGeom prst="ellipse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4323557"/>
            <a:ext cx="265176" cy="10076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9324A"/>
                </a:solidFill>
                <a:latin typeface="Noto Sans CJK S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4242816"/>
            <a:ext cx="1691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1" i="0">
                <a:solidFill>
                  <a:srgbClr val="19324A"/>
                </a:solidFill>
                <a:latin typeface="Noto Sans CJK SC"/>
              </a:rPr>
              <a:t>TPOT 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4242816"/>
            <a:ext cx="241401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 i="0">
                <a:solidFill>
                  <a:srgbClr val="708297"/>
                </a:solidFill>
                <a:latin typeface="Noto Sans CJK SC"/>
              </a:rPr>
              <a:t>用户感到输出不连续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5833872"/>
            <a:ext cx="10515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40" b="1" i="0">
                <a:solidFill>
                  <a:srgbClr val="087A68"/>
                </a:solidFill>
                <a:latin typeface="Noto Sans CJK SC"/>
              </a:rPr>
              <a:t>Interference intensity：Decode 期间混入多少 Prefill 工作，是理解 TPOT 波动的直观指标。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04 / SUSTAINED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Chunked Prefill：一个典型的 TTFT ↔ TPOT 旋钮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切得更大或更小，都不是绝对更好，而是在两种体验之间重新分配资源。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139696"/>
            <a:ext cx="5065776" cy="3419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2416" y="2404872"/>
            <a:ext cx="1005840" cy="283464"/>
          </a:xfrm>
          <a:prstGeom prst="roundRect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430475"/>
            <a:ext cx="10058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ED7955"/>
                </a:solidFill>
                <a:latin typeface="Noto Sans CJK SC"/>
              </a:rPr>
              <a:t>Prefill 更连续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816352"/>
            <a:ext cx="219456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24A"/>
                </a:solidFill>
                <a:latin typeface="Noto Sans CJK SC"/>
              </a:rPr>
              <a:t>大 Chunk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" y="3456432"/>
            <a:ext cx="1325880" cy="274320"/>
          </a:xfrm>
          <a:prstGeom prst="rect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78024" y="3456432"/>
            <a:ext cx="1325880" cy="274320"/>
          </a:xfrm>
          <a:prstGeom prst="rect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77056" y="3456432"/>
            <a:ext cx="1325880" cy="274320"/>
          </a:xfrm>
          <a:prstGeom prst="rect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2144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08760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65376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21991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78608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35224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91839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48456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05072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61688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18304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9624" y="2871216"/>
            <a:ext cx="1554480" cy="6766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 i="0">
                <a:solidFill>
                  <a:srgbClr val="ED7955"/>
                </a:solidFill>
                <a:latin typeface="Noto Sans CJK SC"/>
              </a:rPr>
              <a:t>TTFT 通常更好
TPOT 风险更高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5010912"/>
            <a:ext cx="1965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708297"/>
                </a:solidFill>
                <a:latin typeface="Noto Sans CJK SC"/>
              </a:rPr>
              <a:t>橙 / 绿块：Prefill 工作
绿点：Decode token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2139696"/>
            <a:ext cx="5065776" cy="3419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65392" y="2404872"/>
            <a:ext cx="1005840" cy="283464"/>
          </a:xfrm>
          <a:prstGeom prst="round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2430475"/>
            <a:ext cx="10058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087A68"/>
                </a:solidFill>
                <a:latin typeface="Noto Sans CJK SC"/>
              </a:rPr>
              <a:t>更频繁让出资源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2816352"/>
            <a:ext cx="219456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9324A"/>
                </a:solidFill>
                <a:latin typeface="Noto Sans CJK SC"/>
              </a:rPr>
              <a:t>小 Chunk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01968" y="3456432"/>
            <a:ext cx="438912" cy="274320"/>
          </a:xfrm>
          <a:prstGeom prst="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14032" y="3456432"/>
            <a:ext cx="438912" cy="274320"/>
          </a:xfrm>
          <a:prstGeom prst="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26096" y="3456432"/>
            <a:ext cx="438912" cy="274320"/>
          </a:xfrm>
          <a:prstGeom prst="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3456432"/>
            <a:ext cx="438912" cy="274320"/>
          </a:xfrm>
          <a:prstGeom prst="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50224" y="3456432"/>
            <a:ext cx="438912" cy="274320"/>
          </a:xfrm>
          <a:prstGeom prst="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62288" y="3456432"/>
            <a:ext cx="438912" cy="274320"/>
          </a:xfrm>
          <a:prstGeom prst="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74352" y="3456432"/>
            <a:ext cx="438912" cy="274320"/>
          </a:xfrm>
          <a:prstGeom prst="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031736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88352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744968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101584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58200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814816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71432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528048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884664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241280" y="4681728"/>
            <a:ext cx="118872" cy="11887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2871216"/>
            <a:ext cx="1554480" cy="6766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30" b="1" i="0">
                <a:solidFill>
                  <a:srgbClr val="087A68"/>
                </a:solidFill>
                <a:latin typeface="Noto Sans CJK SC"/>
              </a:rPr>
              <a:t>TPOT 通常更稳
TTFT 风险更高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1968" y="5010912"/>
            <a:ext cx="1965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708297"/>
                </a:solidFill>
                <a:latin typeface="Noto Sans CJK SC"/>
              </a:rPr>
              <a:t>橙 / 绿块：Prefill 工作
绿点：Decode token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" y="5888736"/>
            <a:ext cx="106984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1" i="0">
                <a:solidFill>
                  <a:srgbClr val="19324A"/>
                </a:solidFill>
                <a:latin typeface="Noto Sans CJK SC"/>
              </a:rPr>
              <a:t>管理原则：根据当前 SLO 压力动态选择 Chunk，而不是固定一个“最优值”。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05 / SYSTEM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PD Aggregation 还是 Disaggregation？答案取决于 SLO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不是谁“更先进”，而是不同约束下，哪种结构更贴近用户体验目标。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" y="2084831"/>
            <a:ext cx="5148072" cy="82296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13432"/>
            <a:ext cx="2514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24A"/>
                </a:solidFill>
                <a:latin typeface="Noto Sans CJK SC"/>
              </a:rPr>
              <a:t>PD Aggregation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3864" y="2340864"/>
            <a:ext cx="2103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3478C7"/>
                </a:solidFill>
                <a:latin typeface="Noto Sans CJK SC"/>
              </a:rPr>
              <a:t>Prefill / Decode 同资源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2084831"/>
            <a:ext cx="5148072" cy="822960"/>
          </a:xfrm>
          <a:prstGeom prst="round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2313432"/>
            <a:ext cx="2514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324A"/>
                </a:solidFill>
                <a:latin typeface="Noto Sans CJK SC"/>
              </a:rPr>
              <a:t>PD Disaggregation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4272" y="2340864"/>
            <a:ext cx="21031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087A68"/>
                </a:solidFill>
                <a:latin typeface="Noto Sans CJK SC"/>
              </a:rPr>
              <a:t>Prefill / Decode 分离资源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" y="3136392"/>
            <a:ext cx="10698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182112"/>
            <a:ext cx="1920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708297"/>
                </a:solidFill>
                <a:latin typeface="Noto Sans CJK SC"/>
              </a:rPr>
              <a:t>Prefill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3182112"/>
            <a:ext cx="240487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9324A"/>
                </a:solidFill>
                <a:latin typeface="Noto Sans CJK SC"/>
              </a:rPr>
              <a:t>通常更高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3118104"/>
            <a:ext cx="0" cy="329184"/>
          </a:xfrm>
          <a:prstGeom prst="line">
            <a:avLst/>
          </a:prstGeom>
          <a:ln w="8890">
            <a:solidFill>
              <a:srgbClr val="D9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46520" y="3182112"/>
            <a:ext cx="4389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9324A"/>
                </a:solidFill>
                <a:latin typeface="Noto Sans CJK SC"/>
              </a:rPr>
              <a:t>需要单独配置能力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630168"/>
            <a:ext cx="1920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708297"/>
                </a:solidFill>
                <a:latin typeface="Noto Sans CJK SC"/>
              </a:rPr>
              <a:t>TTFT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3630168"/>
            <a:ext cx="240487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9324A"/>
                </a:solidFill>
                <a:latin typeface="Noto Sans CJK SC"/>
              </a:rPr>
              <a:t>通常较低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9320" y="3566160"/>
            <a:ext cx="0" cy="329184"/>
          </a:xfrm>
          <a:prstGeom prst="line">
            <a:avLst/>
          </a:prstGeom>
          <a:ln w="8890">
            <a:solidFill>
              <a:srgbClr val="D9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46520" y="3630168"/>
            <a:ext cx="4389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9324A"/>
                </a:solidFill>
                <a:latin typeface="Noto Sans CJK SC"/>
              </a:rPr>
              <a:t>容易受队列影响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" y="4032504"/>
            <a:ext cx="10698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078224"/>
            <a:ext cx="1920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708297"/>
                </a:solidFill>
                <a:latin typeface="Noto Sans CJK SC"/>
              </a:rPr>
              <a:t>TPOT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7248" y="4078224"/>
            <a:ext cx="240487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9324A"/>
                </a:solidFill>
                <a:latin typeface="Noto Sans CJK SC"/>
              </a:rPr>
              <a:t>可能被 Prefill 干扰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89320" y="4014215"/>
            <a:ext cx="0" cy="329185"/>
          </a:xfrm>
          <a:prstGeom prst="line">
            <a:avLst/>
          </a:prstGeom>
          <a:ln w="8890">
            <a:solidFill>
              <a:srgbClr val="D9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46520" y="4078224"/>
            <a:ext cx="4389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9324A"/>
                </a:solidFill>
                <a:latin typeface="Noto Sans CJK SC"/>
              </a:rPr>
              <a:t>通常更稳定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526280"/>
            <a:ext cx="1920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708297"/>
                </a:solidFill>
                <a:latin typeface="Noto Sans CJK SC"/>
              </a:rPr>
              <a:t>可独立扩展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27248" y="4526280"/>
            <a:ext cx="240487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9324A"/>
                </a:solidFill>
                <a:latin typeface="Noto Sans CJK SC"/>
              </a:rPr>
              <a:t>较弱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89320" y="4462272"/>
            <a:ext cx="0" cy="329184"/>
          </a:xfrm>
          <a:prstGeom prst="line">
            <a:avLst/>
          </a:prstGeom>
          <a:ln w="8890">
            <a:solidFill>
              <a:srgbClr val="D9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46520" y="4526280"/>
            <a:ext cx="4389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9324A"/>
                </a:solidFill>
                <a:latin typeface="Noto Sans CJK SC"/>
              </a:rPr>
              <a:t>较强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" y="4928616"/>
            <a:ext cx="10698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4974336"/>
            <a:ext cx="19202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1" i="0">
                <a:solidFill>
                  <a:srgbClr val="708297"/>
                </a:solidFill>
                <a:latin typeface="Noto Sans CJK SC"/>
              </a:rPr>
              <a:t>主要风险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7248" y="4974336"/>
            <a:ext cx="240487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9324A"/>
                </a:solidFill>
                <a:latin typeface="Noto Sans CJK SC"/>
              </a:rPr>
              <a:t>Decode 体验波动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89320" y="4910327"/>
            <a:ext cx="0" cy="329185"/>
          </a:xfrm>
          <a:prstGeom prst="line">
            <a:avLst/>
          </a:prstGeom>
          <a:ln w="8890">
            <a:solidFill>
              <a:srgbClr val="D9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46520" y="4974336"/>
            <a:ext cx="43891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9324A"/>
                </a:solidFill>
                <a:latin typeface="Noto Sans CJK SC"/>
              </a:rPr>
              <a:t>Prefill 排队 / KV 转移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824728"/>
            <a:ext cx="10607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087A68"/>
                </a:solidFill>
                <a:latin typeface="Noto Sans CJK SC"/>
              </a:rPr>
              <a:t>结论：SLO 更紧在哪一侧，架构就更需要为哪一侧留出“呼吸空间”。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05 / SYSTEM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SLO 优化，不是一把扳手，而是五层控制面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每层都有控制旋钮；组合使用，才可能把体验与资源效率同时拉上来。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" y="2029968"/>
            <a:ext cx="10012680" cy="530352"/>
          </a:xfrm>
          <a:prstGeom prst="round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78992" y="2029968"/>
            <a:ext cx="2103120" cy="530352"/>
          </a:xfrm>
          <a:prstGeom prst="roundRect">
            <a:avLst/>
          </a:prstGeom>
          <a:solidFill>
            <a:srgbClr val="08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185416"/>
            <a:ext cx="15910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Noto Sans CJK SC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76272"/>
            <a:ext cx="6995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324A"/>
                </a:solidFill>
                <a:latin typeface="Noto Sans CJK SC"/>
              </a:rPr>
              <a:t>PD mode · PD ratio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743200"/>
            <a:ext cx="10012680" cy="530352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992" y="2743200"/>
            <a:ext cx="2103120" cy="530352"/>
          </a:xfrm>
          <a:prstGeom prst="round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2898648"/>
            <a:ext cx="15910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Noto Sans CJK SC"/>
              </a:rPr>
              <a:t>Scheduling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889504"/>
            <a:ext cx="6995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324A"/>
                </a:solidFill>
                <a:latin typeface="Noto Sans CJK SC"/>
              </a:rPr>
              <a:t>Queue · Batch · Priority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8992" y="3456432"/>
            <a:ext cx="10012680" cy="530352"/>
          </a:xfrm>
          <a:prstGeom prst="roundRect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78992" y="3456432"/>
            <a:ext cx="2103120" cy="530352"/>
          </a:xfrm>
          <a:prstGeom prst="roundRect">
            <a:avLst/>
          </a:prstGeom>
          <a:solidFill>
            <a:srgbClr val="ED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3611880"/>
            <a:ext cx="15910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Noto Sans CJK SC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602736"/>
            <a:ext cx="6995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324A"/>
                </a:solidFill>
                <a:latin typeface="Noto Sans CJK SC"/>
              </a:rPr>
              <a:t>Chunk · Kernel · Batch size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" y="4169664"/>
            <a:ext cx="10012680" cy="530352"/>
          </a:xfrm>
          <a:prstGeom prst="roundRect">
            <a:avLst/>
          </a:prstGeom>
          <a:solidFill>
            <a:srgbClr val="EF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78992" y="4169664"/>
            <a:ext cx="2103120" cy="530352"/>
          </a:xfrm>
          <a:prstGeom prst="roundRect">
            <a:avLst/>
          </a:prstGeom>
          <a:solidFill>
            <a:srgbClr val="72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325112"/>
            <a:ext cx="15910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Noto Sans CJK SC"/>
              </a:rP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315968"/>
            <a:ext cx="6995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324A"/>
                </a:solidFill>
                <a:latin typeface="Noto Sans CJK SC"/>
              </a:rPr>
              <a:t>KV · Prefix cache · Offload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8992" y="4882896"/>
            <a:ext cx="10012680" cy="530352"/>
          </a:xfrm>
          <a:prstGeom prst="round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78992" y="4882896"/>
            <a:ext cx="2103120" cy="530352"/>
          </a:xfrm>
          <a:prstGeom prst="roundRect">
            <a:avLst/>
          </a:prstGeom>
          <a:solidFill>
            <a:srgbClr val="D59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5038344"/>
            <a:ext cx="15910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Noto Sans CJK SC"/>
              </a:rPr>
              <a:t>Communication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029200"/>
            <a:ext cx="6995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9324A"/>
                </a:solidFill>
                <a:latin typeface="Noto Sans CJK SC"/>
              </a:rPr>
              <a:t>TP / EP · NCCL · NVLink / PCIe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815584"/>
            <a:ext cx="10012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9324A"/>
                </a:solidFill>
                <a:latin typeface="Noto Sans CJK SC"/>
              </a:rPr>
              <a:t>共同目标：让每一个控制旋钮都能解释为“对 TTFT、TPOT 或 SLO 达成率的影响”。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05 / SYSTEM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调度：谁先服务，决定谁还有机会达标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只看“先来后到”容易堵住短请求；只看“任务大小”又可能饿死长请求。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176272"/>
            <a:ext cx="2395728" cy="292608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96312"/>
            <a:ext cx="2011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9324A"/>
                </a:solidFill>
                <a:latin typeface="Noto Sans CJK SC"/>
              </a:rPr>
              <a:t>FCFS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9008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708297"/>
                </a:solidFill>
                <a:latin typeface="Noto Sans CJK SC"/>
              </a:rPr>
              <a:t>先到先服务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3401568"/>
            <a:ext cx="2029968" cy="18288"/>
          </a:xfrm>
          <a:prstGeom prst="rect">
            <a:avLst/>
          </a:prstGeom>
          <a:solidFill>
            <a:srgbClr val="708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749039"/>
            <a:ext cx="2029968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0" i="0">
                <a:solidFill>
                  <a:srgbClr val="27445F"/>
                </a:solidFill>
                <a:latin typeface="Noto Sans CJK SC"/>
              </a:rPr>
              <a:t>简单，但可能出现 Head-of-Line Blocking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176272"/>
            <a:ext cx="2395728" cy="292608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496312"/>
            <a:ext cx="2011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9324A"/>
                </a:solidFill>
                <a:latin typeface="Noto Sans CJK SC"/>
              </a:rPr>
              <a:t>SJF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99008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3478C7"/>
                </a:solidFill>
                <a:latin typeface="Noto Sans CJK SC"/>
              </a:rPr>
              <a:t>短任务优先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3401568"/>
            <a:ext cx="2029968" cy="18288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3749039"/>
            <a:ext cx="2029968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0" i="0">
                <a:solidFill>
                  <a:srgbClr val="27445F"/>
                </a:solidFill>
                <a:latin typeface="Noto Sans CJK SC"/>
              </a:rPr>
              <a:t>短请求更快，长上下文可能持续被推迟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2176272"/>
            <a:ext cx="2395728" cy="2926080"/>
          </a:xfrm>
          <a:prstGeom prst="round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2496312"/>
            <a:ext cx="2011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9324A"/>
                </a:solidFill>
                <a:latin typeface="Noto Sans CJK SC"/>
              </a:rPr>
              <a:t>EDF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99008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D59B22"/>
                </a:solidFill>
                <a:latin typeface="Noto Sans CJK SC"/>
              </a:rPr>
              <a:t>最早截止时间优先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5392" y="3401568"/>
            <a:ext cx="2029968" cy="18288"/>
          </a:xfrm>
          <a:prstGeom prst="rect">
            <a:avLst/>
          </a:prstGeom>
          <a:solidFill>
            <a:srgbClr val="D59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3749039"/>
            <a:ext cx="2029968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0" i="0">
                <a:solidFill>
                  <a:srgbClr val="27445F"/>
                </a:solidFill>
                <a:latin typeface="Noto Sans CJK SC"/>
              </a:rPr>
              <a:t>体现 deadline，但不充分理解执行成本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98864" y="2176272"/>
            <a:ext cx="2395728" cy="2926080"/>
          </a:xfrm>
          <a:prstGeom prst="round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2496312"/>
            <a:ext cx="2011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9324A"/>
                </a:solidFill>
                <a:latin typeface="Noto Sans CJK SC"/>
              </a:rPr>
              <a:t>Latency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990088"/>
            <a:ext cx="20116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087A68"/>
                </a:solidFill>
                <a:latin typeface="Noto Sans CJK SC"/>
              </a:rPr>
              <a:t>剩余预算优先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81744" y="3401568"/>
            <a:ext cx="2029968" cy="18288"/>
          </a:xfrm>
          <a:prstGeom prst="rect">
            <a:avLst/>
          </a:prstGeom>
          <a:solidFill>
            <a:srgbClr val="08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81744" y="3749039"/>
            <a:ext cx="2029968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0" i="0">
                <a:solidFill>
                  <a:srgbClr val="27445F"/>
                </a:solidFill>
                <a:latin typeface="Noto Sans CJK SC"/>
              </a:rPr>
              <a:t>优先处理“最接近失约”的请求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98448" y="5550408"/>
            <a:ext cx="9555480" cy="411480"/>
          </a:xfrm>
          <a:prstGeom prst="roundRect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5669280"/>
            <a:ext cx="90708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Noto Sans CJK SC"/>
              </a:rPr>
              <a:t>Latency Budget = SLO − 预测的剩余服务时间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05 / SYSTEM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Latency Budget：把“还有多少时间”变成系统共同语言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同一个 KV 搬运、同一次排队，对不同请求的风险完全不同。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157984"/>
            <a:ext cx="516636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2368296"/>
            <a:ext cx="1024128" cy="283464"/>
          </a:xfrm>
          <a:prstGeom prst="round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93899"/>
            <a:ext cx="102412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087A68"/>
                </a:solidFill>
                <a:latin typeface="Noto Sans CJK SC"/>
              </a:rPr>
              <a:t>Request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77439"/>
            <a:ext cx="1572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08297"/>
                </a:solidFill>
                <a:latin typeface="Noto Sans CJK SC"/>
              </a:rPr>
              <a:t>TTFT SLO 5.0s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25496"/>
            <a:ext cx="13533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7445F"/>
                </a:solidFill>
                <a:latin typeface="Noto Sans CJK SC"/>
              </a:rPr>
              <a:t>已花 1.0s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779776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87A68"/>
                </a:solidFill>
                <a:latin typeface="Noto Sans CJK SC"/>
              </a:rPr>
              <a:t>剩余 4.0s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3749039"/>
            <a:ext cx="516636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3959352"/>
            <a:ext cx="1024128" cy="283464"/>
          </a:xfrm>
          <a:prstGeom prst="roundRect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84955"/>
            <a:ext cx="102412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 i="0">
                <a:solidFill>
                  <a:srgbClr val="ED7955"/>
                </a:solidFill>
                <a:latin typeface="Noto Sans CJK SC"/>
              </a:rPr>
              <a:t>Request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968496"/>
            <a:ext cx="157276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08297"/>
                </a:solidFill>
                <a:latin typeface="Noto Sans CJK SC"/>
              </a:rPr>
              <a:t>TTFT SLO 5.0s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416552"/>
            <a:ext cx="13533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7445F"/>
                </a:solidFill>
                <a:latin typeface="Noto Sans CJK SC"/>
              </a:rPr>
              <a:t>已花 4.5s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370831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D7955"/>
                </a:solidFill>
                <a:latin typeface="Noto Sans CJK SC"/>
              </a:rPr>
              <a:t>剩余 0.5s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157984"/>
            <a:ext cx="4919472" cy="2807208"/>
          </a:xfrm>
          <a:prstGeom prst="roundRect">
            <a:avLst/>
          </a:prstGeom>
          <a:solidFill>
            <a:srgbClr val="19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2514600"/>
            <a:ext cx="429768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DF4ED"/>
                </a:solidFill>
                <a:latin typeface="Noto Sans CJK SC"/>
              </a:rPr>
              <a:t>一个 300ms 的 KV transfer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0" y="2999232"/>
            <a:ext cx="4133088" cy="0"/>
          </a:xfrm>
          <a:prstGeom prst="line">
            <a:avLst/>
          </a:prstGeom>
          <a:ln w="12700">
            <a:solidFill>
              <a:srgbClr val="20A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85432" y="3346704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</a:rPr>
              <a:t>对 Request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3346704"/>
            <a:ext cx="23134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D5E4E9"/>
                </a:solidFill>
                <a:latin typeface="Noto Sans CJK SC"/>
              </a:rPr>
              <a:t>还有足够余量，可以接受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3849624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</a:rPr>
              <a:t>对 Request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3" y="3849624"/>
            <a:ext cx="24963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D7CC"/>
                </a:solidFill>
                <a:latin typeface="Noto Sans CJK SC"/>
              </a:rPr>
              <a:t>会显著增加违约风险，应优先处理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687568"/>
            <a:ext cx="10469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20" b="1" i="0">
                <a:solidFill>
                  <a:srgbClr val="19324A"/>
                </a:solidFill>
                <a:latin typeface="Noto Sans CJK SC"/>
              </a:rPr>
              <a:t>因此调度、KV movement、抢占等操作，应该共同消耗并参考这个预算。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87A68"/>
                </a:solidFill>
                <a:latin typeface="Noto Sans CJK SC"/>
              </a:rPr>
              <a:t>06 / OUR ENGINEERING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324A"/>
                </a:solidFill>
                <a:latin typeface="Noto Sans CJK SC"/>
              </a:rPr>
              <a:t>把正在做的工程工作，放回同一条因果链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8297"/>
                </a:solidFill>
                <a:latin typeface="Noto Sans CJK SC"/>
              </a:rPr>
              <a:t>PD、Chunk、KV、通信、GPU 利用率不是零散项目；它们都在改变用户体验。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57984"/>
            <a:ext cx="1938528" cy="2542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57984"/>
            <a:ext cx="1938528" cy="73152"/>
          </a:xfrm>
          <a:prstGeom prst="rect">
            <a:avLst/>
          </a:prstGeom>
          <a:solidFill>
            <a:srgbClr val="72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496312"/>
            <a:ext cx="158191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 i="0">
                <a:solidFill>
                  <a:srgbClr val="19324A"/>
                </a:solidFill>
                <a:latin typeface="Noto Sans CJK SC"/>
              </a:rPr>
              <a:t>PD ratio / PD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209544"/>
            <a:ext cx="158191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0" i="0">
                <a:solidFill>
                  <a:srgbClr val="708297"/>
                </a:solidFill>
                <a:latin typeface="Noto Sans CJK SC"/>
              </a:rPr>
              <a:t>架构分配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" y="3703320"/>
            <a:ext cx="1481328" cy="347472"/>
          </a:xfrm>
          <a:prstGeom prst="roundRect">
            <a:avLst/>
          </a:prstGeom>
          <a:solidFill>
            <a:srgbClr val="72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142646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Noto Sans CJK SC"/>
              </a:rPr>
              <a:t>TTFT / TPOT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42615" y="3419856"/>
            <a:ext cx="210313" cy="0"/>
          </a:xfrm>
          <a:prstGeom prst="line">
            <a:avLst/>
          </a:prstGeom>
          <a:ln w="20320">
            <a:solidFill>
              <a:srgbClr val="D9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evron 13"/>
          <p:cNvSpPr/>
          <p:nvPr/>
        </p:nvSpPr>
        <p:spPr>
          <a:xfrm>
            <a:off x="2734056" y="3355848"/>
            <a:ext cx="155448" cy="128016"/>
          </a:xfrm>
          <a:prstGeom prst="chevron">
            <a:avLst/>
          </a:prstGeom>
          <a:solidFill>
            <a:srgbClr val="D9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53511" y="2157984"/>
            <a:ext cx="1938528" cy="2542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53511" y="2157984"/>
            <a:ext cx="1938528" cy="73152"/>
          </a:xfrm>
          <a:prstGeom prst="rect">
            <a:avLst/>
          </a:prstGeom>
          <a:solidFill>
            <a:srgbClr val="ED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36391" y="2496312"/>
            <a:ext cx="158191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 i="0">
                <a:solidFill>
                  <a:srgbClr val="19324A"/>
                </a:solidFill>
                <a:latin typeface="Noto Sans CJK SC"/>
              </a:rPr>
              <a:t>Chunk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6391" y="3209544"/>
            <a:ext cx="158191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0" i="0">
                <a:solidFill>
                  <a:srgbClr val="708297"/>
                </a:solidFill>
                <a:latin typeface="Noto Sans CJK SC"/>
              </a:rPr>
              <a:t>执行切分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82111" y="3703320"/>
            <a:ext cx="1481328" cy="347472"/>
          </a:xfrm>
          <a:prstGeom prst="roundRect">
            <a:avLst/>
          </a:prstGeom>
          <a:solidFill>
            <a:srgbClr val="ED7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9544" y="3794760"/>
            <a:ext cx="142646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Noto Sans CJK SC"/>
              </a:rPr>
              <a:t>TTFT ↔ TPOT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37759" y="3419856"/>
            <a:ext cx="210312" cy="0"/>
          </a:xfrm>
          <a:prstGeom prst="line">
            <a:avLst/>
          </a:prstGeom>
          <a:ln w="20320">
            <a:solidFill>
              <a:srgbClr val="D9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>
            <a:off x="5029199" y="3355848"/>
            <a:ext cx="155448" cy="128016"/>
          </a:xfrm>
          <a:prstGeom prst="chevron">
            <a:avLst/>
          </a:prstGeom>
          <a:solidFill>
            <a:srgbClr val="D9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48655" y="2157984"/>
            <a:ext cx="1938528" cy="2542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48655" y="2157984"/>
            <a:ext cx="1938528" cy="73152"/>
          </a:xfrm>
          <a:prstGeom prst="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31536" y="2496312"/>
            <a:ext cx="158191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 i="0">
                <a:solidFill>
                  <a:srgbClr val="19324A"/>
                </a:solidFill>
                <a:latin typeface="Noto Sans CJK SC"/>
              </a:rPr>
              <a:t>KV cache / offload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1536" y="3209544"/>
            <a:ext cx="158191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0" i="0">
                <a:solidFill>
                  <a:srgbClr val="708297"/>
                </a:solidFill>
                <a:latin typeface="Noto Sans CJK SC"/>
              </a:rPr>
              <a:t>内存路径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77255" y="3703320"/>
            <a:ext cx="1481328" cy="347472"/>
          </a:xfrm>
          <a:prstGeom prst="roundRect">
            <a:avLst/>
          </a:prstGeom>
          <a:solidFill>
            <a:srgbClr val="347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04688" y="3794760"/>
            <a:ext cx="142646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Noto Sans CJK SC"/>
              </a:rPr>
              <a:t>TTFT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232903" y="3419856"/>
            <a:ext cx="210312" cy="0"/>
          </a:xfrm>
          <a:prstGeom prst="line">
            <a:avLst/>
          </a:prstGeom>
          <a:ln w="20320">
            <a:solidFill>
              <a:srgbClr val="D9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hevron 29"/>
          <p:cNvSpPr/>
          <p:nvPr/>
        </p:nvSpPr>
        <p:spPr>
          <a:xfrm>
            <a:off x="7324343" y="3355848"/>
            <a:ext cx="155448" cy="128016"/>
          </a:xfrm>
          <a:prstGeom prst="chevron">
            <a:avLst/>
          </a:prstGeom>
          <a:solidFill>
            <a:srgbClr val="D9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43800" y="2157984"/>
            <a:ext cx="1938528" cy="2542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43800" y="2157984"/>
            <a:ext cx="1938528" cy="73152"/>
          </a:xfrm>
          <a:prstGeom prst="rect">
            <a:avLst/>
          </a:prstGeom>
          <a:solidFill>
            <a:srgbClr val="08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79" y="2496312"/>
            <a:ext cx="158191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 i="0">
                <a:solidFill>
                  <a:srgbClr val="19324A"/>
                </a:solidFill>
                <a:latin typeface="Noto Sans CJK SC"/>
              </a:rPr>
              <a:t>TP / EP / NCCL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3209544"/>
            <a:ext cx="158191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0" i="0">
                <a:solidFill>
                  <a:srgbClr val="708297"/>
                </a:solidFill>
                <a:latin typeface="Noto Sans CJK SC"/>
              </a:rPr>
              <a:t>通信路径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3703320"/>
            <a:ext cx="1481328" cy="347472"/>
          </a:xfrm>
          <a:prstGeom prst="roundRect">
            <a:avLst/>
          </a:prstGeom>
          <a:solidFill>
            <a:srgbClr val="08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99831" y="3794760"/>
            <a:ext cx="142646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Noto Sans CJK SC"/>
              </a:rPr>
              <a:t>TPOT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528048" y="3419856"/>
            <a:ext cx="210312" cy="0"/>
          </a:xfrm>
          <a:prstGeom prst="line">
            <a:avLst/>
          </a:prstGeom>
          <a:ln w="20320">
            <a:solidFill>
              <a:srgbClr val="D9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evron 37"/>
          <p:cNvSpPr/>
          <p:nvPr/>
        </p:nvSpPr>
        <p:spPr>
          <a:xfrm>
            <a:off x="9619488" y="3355848"/>
            <a:ext cx="155448" cy="128016"/>
          </a:xfrm>
          <a:prstGeom prst="chevron">
            <a:avLst/>
          </a:prstGeom>
          <a:solidFill>
            <a:srgbClr val="D9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838944" y="2157984"/>
            <a:ext cx="1938528" cy="2542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38944" y="2157984"/>
            <a:ext cx="1938528" cy="73152"/>
          </a:xfrm>
          <a:prstGeom prst="rect">
            <a:avLst/>
          </a:prstGeom>
          <a:solidFill>
            <a:srgbClr val="D59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21824" y="2496312"/>
            <a:ext cx="158191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 i="0">
                <a:solidFill>
                  <a:srgbClr val="19324A"/>
                </a:solidFill>
                <a:latin typeface="Noto Sans CJK SC"/>
              </a:rPr>
              <a:t>GPU utilization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21824" y="3209544"/>
            <a:ext cx="158191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0" i="0">
                <a:solidFill>
                  <a:srgbClr val="708297"/>
                </a:solidFill>
                <a:latin typeface="Noto Sans CJK SC"/>
              </a:rPr>
              <a:t>资源饱和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67544" y="3703320"/>
            <a:ext cx="1481328" cy="347472"/>
          </a:xfrm>
          <a:prstGeom prst="roundRect">
            <a:avLst/>
          </a:prstGeom>
          <a:solidFill>
            <a:srgbClr val="D59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94976" y="3794760"/>
            <a:ext cx="1426464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40" b="1" i="0">
                <a:solidFill>
                  <a:srgbClr val="FFFFFF"/>
                </a:solidFill>
                <a:latin typeface="Noto Sans CJK SC"/>
              </a:rPr>
              <a:t>尾部延迟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413248"/>
            <a:ext cx="10698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70" b="1" i="0">
                <a:solidFill>
                  <a:srgbClr val="087A68"/>
                </a:solidFill>
                <a:latin typeface="Noto Sans CJK SC"/>
              </a:rPr>
              <a:t>工程问题的统一问法：这个改动会让哪种延迟变短？又会把压力转移到哪里？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9AABB8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9AABB8"/>
                </a:solidFill>
                <a:latin typeface="Noto Sans CJK S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22860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DDF4ED"/>
                </a:solidFill>
                <a:latin typeface="Noto Sans CJK SC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85800"/>
            <a:ext cx="402336" cy="41148"/>
          </a:xfrm>
          <a:prstGeom prst="rect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50392"/>
            <a:ext cx="1088136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Noto Sans CJK SC"/>
              </a:rPr>
              <a:t>从单点性能，走向系统级 Goodput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463040"/>
            <a:ext cx="105156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2DFE5"/>
                </a:solidFill>
                <a:latin typeface="Noto Sans CJK SC"/>
              </a:rPr>
              <a:t>推理优化的最终目标：在给定 TTFT / TPOT SLO 下，让更多请求稳定达标。</a:t>
            </a:r>
          </a:p>
        </p:txBody>
      </p:sp>
      <p:sp>
        <p:nvSpPr>
          <p:cNvPr id="7" name="Oval 6"/>
          <p:cNvSpPr/>
          <p:nvPr/>
        </p:nvSpPr>
        <p:spPr>
          <a:xfrm>
            <a:off x="4919472" y="1938528"/>
            <a:ext cx="2267712" cy="2267712"/>
          </a:xfrm>
          <a:prstGeom prst="ellipse">
            <a:avLst/>
          </a:prstGeom>
          <a:solidFill>
            <a:srgbClr val="20A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30368" y="2633472"/>
            <a:ext cx="1645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Noto Sans CJK SC"/>
              </a:rPr>
              <a:t>SLO
ATTAINMENT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340864"/>
            <a:ext cx="2395728" cy="914400"/>
          </a:xfrm>
          <a:prstGeom prst="roundRect">
            <a:avLst/>
          </a:prstGeom>
          <a:solidFill>
            <a:srgbClr val="E7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532888"/>
            <a:ext cx="215798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9324A"/>
                </a:solidFill>
                <a:latin typeface="Noto Sans CJK SC"/>
              </a:rPr>
              <a:t>TTFT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880360"/>
            <a:ext cx="2157984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7445F"/>
                </a:solidFill>
                <a:latin typeface="Noto Sans CJK SC"/>
              </a:rPr>
              <a:t>首字等待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59368" y="2340864"/>
            <a:ext cx="2395728" cy="914400"/>
          </a:xfrm>
          <a:prstGeom prst="roundRect">
            <a:avLst/>
          </a:prstGeom>
          <a:solidFill>
            <a:srgbClr val="DD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2532888"/>
            <a:ext cx="215798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9324A"/>
                </a:solidFill>
                <a:latin typeface="Noto Sans CJK SC"/>
              </a:rPr>
              <a:t>TPOT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880360"/>
            <a:ext cx="2157984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7445F"/>
                </a:solidFill>
                <a:latin typeface="Noto Sans CJK SC"/>
              </a:rPr>
              <a:t>生成节奏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4727448"/>
            <a:ext cx="2395728" cy="914400"/>
          </a:xfrm>
          <a:prstGeom prst="roundRect">
            <a:avLst/>
          </a:prstGeom>
          <a:solidFill>
            <a:srgbClr val="FF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67712" y="4919472"/>
            <a:ext cx="215798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9324A"/>
                </a:solidFill>
                <a:latin typeface="Noto Sans CJK SC"/>
              </a:rPr>
              <a:t>控制旋钮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7712" y="5266944"/>
            <a:ext cx="2157984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7445F"/>
                </a:solidFill>
                <a:latin typeface="Noto Sans CJK SC"/>
              </a:rPr>
              <a:t>架构 · 调度 · 执行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34072" y="4727448"/>
            <a:ext cx="2395728" cy="914400"/>
          </a:xfrm>
          <a:prstGeom prst="roundRect">
            <a:avLst/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2944" y="4919472"/>
            <a:ext cx="215798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9324A"/>
                </a:solidFill>
                <a:latin typeface="Noto Sans CJK SC"/>
              </a:rPr>
              <a:t>最终目标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5266944"/>
            <a:ext cx="2157984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7445F"/>
                </a:solidFill>
                <a:latin typeface="Noto Sans CJK SC"/>
              </a:rPr>
              <a:t>Goodput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74136" y="2788920"/>
            <a:ext cx="1527048" cy="0"/>
          </a:xfrm>
          <a:prstGeom prst="line">
            <a:avLst/>
          </a:prstGeom>
          <a:ln w="15240">
            <a:solidFill>
              <a:srgbClr val="20A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187184" y="2788920"/>
            <a:ext cx="1435608" cy="0"/>
          </a:xfrm>
          <a:prstGeom prst="line">
            <a:avLst/>
          </a:prstGeom>
          <a:ln w="15240">
            <a:solidFill>
              <a:srgbClr val="20A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434840" y="3959352"/>
            <a:ext cx="749808" cy="612648"/>
          </a:xfrm>
          <a:prstGeom prst="line">
            <a:avLst/>
          </a:prstGeom>
          <a:ln w="15240">
            <a:solidFill>
              <a:srgbClr val="20A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87184" y="3959352"/>
            <a:ext cx="813816" cy="612648"/>
          </a:xfrm>
          <a:prstGeom prst="line">
            <a:avLst/>
          </a:prstGeom>
          <a:ln w="15240">
            <a:solidFill>
              <a:srgbClr val="20A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5971032"/>
            <a:ext cx="10515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Noto Sans CJK SC"/>
              </a:rPr>
              <a:t>不是让某个 kernel 更快，而是让更多用户在等待与生成的全过程中，都获得可承诺的体验。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42976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1" i="0">
                <a:solidFill>
                  <a:srgbClr val="B5C3CD"/>
                </a:solidFill>
                <a:latin typeface="Noto Sans CJK SC"/>
              </a:rPr>
              <a:t>LLM INFERENCE SLO  /  INTERNAL EXPLAINER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96812"/>
            <a:ext cx="6126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60" b="0" i="0">
                <a:solidFill>
                  <a:srgbClr val="B5C3CD"/>
                </a:solidFill>
                <a:latin typeface="Noto Sans CJK SC"/>
              </a:rPr>
              <a:t>基于团队提供的 SLO / PD / KV / 调度研读材料整理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73968" y="6464808"/>
            <a:ext cx="4114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B5C3CD"/>
                </a:solidFill>
                <a:latin typeface="Noto Sans CJK SC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Inference SLO：从延迟指标到 Goodput 优化</dc:title>
  <dc:subject>LLM 推理系统 SLO 技术分享</dc:subject>
  <dc:creator>Kiro</dc:creator>
  <cp:keywords>LLM, SLO, TTFT, TPOT, Goodput, PD, KV Cache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